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topic: reverse engineering as a disciplined process for recovering design knowledge from an existing system, and how GitHub supports collaborative reverse engineering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of the presentation: concepts first, then the process stage by stage, then how GitHub and open-source tools support the work, finishing with legal aspects and best practices.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classic Chikofsky and Cross definition. Emphasise that reverse engineering is examination, not modification; re-engineering is the step that changes the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common motivations. Stress that most real-world reverse engineering is defensive or maintenance-driven: security analysis, interoperability and keeping legacy systems alive.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 engineering moves down from abstract requirements to concrete code. Reverse engineering climbs back up. Together with modification they form re-engineering.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Reverse engineering climbs this ladder. Each step up discards machine detail and adds meaning. Most practical projects reach design level; full requirements recovery is rare.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one walks through the process stage by stage.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is iterative, not strictly linear. Findings in dynamic analysis often send the analyst back to static analysis, and verification can expose gaps that need more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scoping prevents wasted effort. Always confirm you are permitted to analyse the target, then gather every artefact that can shorten the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analysis examines the code without executing it. Tools like Ghidra convert machine code to assembly and then to readable pseudo-code, which the analyst annotates.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Dynamic analysis runs the target in a controlled, isolated environment and watches what it does. It reveals behaviour that is hidden or encrypted in the static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raw technical data becomes understanding. The analyst turns traces and listings into diagrams and specifications that others can read.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Differential testing: feed the same input to the original and to the reconstructed model and compare outputs. Then capture everything so the work can be reviewed and reused.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two shows how GitHub turns individual analysis into a shared, reviewable project.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clear folder structure keeps notes, scripts and diagrams separate. The samples folder holds hashes and references rather than the binaries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GitHub flow applied to reverse engineering. Each analysis task is an issue, worked on in a branch and reviewed through a pull request before it reaches main.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these tools are developed in the open on GitHub. Ghidra was released by the NSA in 2019 and is now one of the most widely used free reverse engineering suites.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Reverse engineering is lawful in many situations, such as interoperability and good-faith security research, but licence terms and local laws vary. Always obtain permission and disclose responsibly.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challenge on the left is answered by a practice on the right: isolation counters anti-analysis, Git and peer review counter complexity and lost knowledge.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four takeaways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1325880"/>
            <a:ext cx="6217920" cy="365760"/>
          </a:xfrm>
          <a:prstGeom prst="rect">
            <a:avLst/>
          </a:prstGeom>
          <a:noFill/>
        </p:spPr>
        <p:txBody>
          <a:bodyPr wrap="square" anchor="t" lIns="0" rIns="0" tIns="0" bIns="0">
            <a:spAutoFit/>
          </a:bodyPr>
          <a:lstStyle/>
          <a:p>
            <a:pPr algn="l">
              <a:spcAft>
                <a:spcPts val="600"/>
              </a:spcAft>
            </a:pPr>
            <a:r>
              <a:rPr sz="1400" b="1" i="0">
                <a:solidFill>
                  <a:srgbClr val="FCA311"/>
                </a:solidFill>
                <a:latin typeface="Calibri"/>
              </a:rPr>
              <a:t>TECHNICAL PRESENTATION</a:t>
            </a:r>
          </a:p>
        </p:txBody>
      </p:sp>
      <p:sp>
        <p:nvSpPr>
          <p:cNvPr id="3" name="TextBox 2"/>
          <p:cNvSpPr txBox="1"/>
          <p:nvPr/>
        </p:nvSpPr>
        <p:spPr>
          <a:xfrm>
            <a:off x="731520" y="1783080"/>
            <a:ext cx="6400800" cy="2011680"/>
          </a:xfrm>
          <a:prstGeom prst="rect">
            <a:avLst/>
          </a:prstGeom>
          <a:noFill/>
        </p:spPr>
        <p:txBody>
          <a:bodyPr wrap="square" anchor="t" lIns="0" rIns="0" tIns="0" bIns="0">
            <a:spAutoFit/>
          </a:bodyPr>
          <a:lstStyle/>
          <a:p>
            <a:pPr algn="l">
              <a:spcAft>
                <a:spcPts val="600"/>
              </a:spcAft>
            </a:pPr>
            <a:r>
              <a:rPr sz="4800" b="1" i="0">
                <a:solidFill>
                  <a:srgbClr val="FFFFFF"/>
                </a:solidFill>
                <a:latin typeface="Cambria"/>
              </a:rPr>
              <a:t>Reverse Engineering Process</a:t>
            </a:r>
          </a:p>
        </p:txBody>
      </p:sp>
      <p:sp>
        <p:nvSpPr>
          <p:cNvPr id="4" name="TextBox 3"/>
          <p:cNvSpPr txBox="1"/>
          <p:nvPr/>
        </p:nvSpPr>
        <p:spPr>
          <a:xfrm>
            <a:off x="731520" y="3703320"/>
            <a:ext cx="6217920" cy="914400"/>
          </a:xfrm>
          <a:prstGeom prst="rect">
            <a:avLst/>
          </a:prstGeom>
          <a:noFill/>
        </p:spPr>
        <p:txBody>
          <a:bodyPr wrap="square" anchor="t" lIns="0" rIns="0" tIns="0" bIns="0">
            <a:spAutoFit/>
          </a:bodyPr>
          <a:lstStyle/>
          <a:p>
            <a:pPr algn="l">
              <a:spcAft>
                <a:spcPts val="600"/>
              </a:spcAft>
            </a:pPr>
            <a:r>
              <a:rPr sz="2000" b="0" i="0">
                <a:solidFill>
                  <a:srgbClr val="C9D3E3"/>
                </a:solidFill>
                <a:latin typeface="Calibri"/>
              </a:rPr>
              <a:t>Methods, tools and collaborative practice with GitHub</a:t>
            </a:r>
          </a:p>
        </p:txBody>
      </p:sp>
      <p:sp>
        <p:nvSpPr>
          <p:cNvPr id="5" name="TextBox 4"/>
          <p:cNvSpPr txBox="1"/>
          <p:nvPr/>
        </p:nvSpPr>
        <p:spPr>
          <a:xfrm>
            <a:off x="731520" y="5120640"/>
            <a:ext cx="6217920" cy="731520"/>
          </a:xfrm>
          <a:prstGeom prst="rect">
            <a:avLst/>
          </a:prstGeom>
          <a:noFill/>
        </p:spPr>
        <p:txBody>
          <a:bodyPr wrap="square" anchor="t" lIns="0" rIns="0" tIns="0" bIns="0">
            <a:spAutoFit/>
          </a:bodyPr>
          <a:lstStyle/>
          <a:p>
            <a:pPr algn="l">
              <a:spcAft>
                <a:spcPts val="200"/>
              </a:spcAft>
            </a:pPr>
            <a:r>
              <a:rPr sz="1600" b="1" i="0">
                <a:solidFill>
                  <a:srgbClr val="FFFFFF"/>
                </a:solidFill>
                <a:latin typeface="Calibri"/>
              </a:rPr>
              <a:t>Mugilan24</a:t>
            </a:r>
          </a:p>
          <a:p>
            <a:pPr algn="l">
              <a:spcAft>
                <a:spcPts val="200"/>
              </a:spcAft>
            </a:pPr>
            <a:r>
              <a:rPr sz="1600" b="0" i="0">
                <a:solidFill>
                  <a:srgbClr val="C9D3E3"/>
                </a:solidFill>
                <a:latin typeface="Calibri"/>
              </a:rPr>
              <a:t>October 2026</a:t>
            </a:r>
          </a:p>
        </p:txBody>
      </p:sp>
      <p:sp>
        <p:nvSpPr>
          <p:cNvPr id="6" name="Rounded Rectangle 5"/>
          <p:cNvSpPr/>
          <p:nvPr/>
        </p:nvSpPr>
        <p:spPr>
          <a:xfrm>
            <a:off x="7863840" y="1280160"/>
            <a:ext cx="3566160" cy="731520"/>
          </a:xfrm>
          <a:prstGeom prst="roundRect">
            <a:avLst>
              <a:gd name="adj" fmla="val 8000"/>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i="0">
                <a:solidFill>
                  <a:srgbClr val="14213D"/>
                </a:solidFill>
                <a:latin typeface="Calibri"/>
              </a:rPr>
              <a:t>Design &amp; requirements</a:t>
            </a:r>
          </a:p>
        </p:txBody>
      </p:sp>
      <p:sp>
        <p:nvSpPr>
          <p:cNvPr id="7" name="Rounded Rectangle 6"/>
          <p:cNvSpPr/>
          <p:nvPr/>
        </p:nvSpPr>
        <p:spPr>
          <a:xfrm>
            <a:off x="7863840" y="2468880"/>
            <a:ext cx="3566160" cy="731520"/>
          </a:xfrm>
          <a:prstGeom prst="roundRect">
            <a:avLst>
              <a:gd name="adj" fmla="val 8000"/>
            </a:avLst>
          </a:prstGeom>
          <a:solidFill>
            <a:srgbClr val="22335A"/>
          </a:solidFill>
          <a:ln w="1587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i="0">
                <a:solidFill>
                  <a:srgbClr val="FFFFFF"/>
                </a:solidFill>
                <a:latin typeface="Calibri"/>
              </a:rPr>
              <a:t>Source logic</a:t>
            </a:r>
          </a:p>
        </p:txBody>
      </p:sp>
      <p:sp>
        <p:nvSpPr>
          <p:cNvPr id="8" name="Rounded Rectangle 7"/>
          <p:cNvSpPr/>
          <p:nvPr/>
        </p:nvSpPr>
        <p:spPr>
          <a:xfrm>
            <a:off x="7863840" y="3657600"/>
            <a:ext cx="3566160" cy="731520"/>
          </a:xfrm>
          <a:prstGeom prst="roundRect">
            <a:avLst>
              <a:gd name="adj" fmla="val 8000"/>
            </a:avLst>
          </a:prstGeom>
          <a:solidFill>
            <a:srgbClr val="22335A"/>
          </a:solidFill>
          <a:ln w="1587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i="0">
                <a:solidFill>
                  <a:srgbClr val="FFFFFF"/>
                </a:solidFill>
                <a:latin typeface="Calibri"/>
              </a:rPr>
              <a:t>Assembly code</a:t>
            </a:r>
          </a:p>
        </p:txBody>
      </p:sp>
      <p:sp>
        <p:nvSpPr>
          <p:cNvPr id="9" name="Rounded Rectangle 8"/>
          <p:cNvSpPr/>
          <p:nvPr/>
        </p:nvSpPr>
        <p:spPr>
          <a:xfrm>
            <a:off x="7863840" y="4846320"/>
            <a:ext cx="3566160" cy="731520"/>
          </a:xfrm>
          <a:prstGeom prst="roundRect">
            <a:avLst>
              <a:gd name="adj" fmla="val 8000"/>
            </a:avLst>
          </a:prstGeom>
          <a:solidFill>
            <a:srgbClr val="22335A"/>
          </a:solidFill>
          <a:ln w="1587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i="0">
                <a:solidFill>
                  <a:srgbClr val="FFFFFF"/>
                </a:solidFill>
                <a:latin typeface="Calibri"/>
              </a:rPr>
              <a:t>Executable binary</a:t>
            </a:r>
          </a:p>
        </p:txBody>
      </p:sp>
      <p:cxnSp>
        <p:nvCxnSpPr>
          <p:cNvPr id="10" name="Connector 9"/>
          <p:cNvCxnSpPr/>
          <p:nvPr/>
        </p:nvCxnSpPr>
        <p:spPr>
          <a:xfrm flipV="1">
            <a:off x="9646920" y="2057400"/>
            <a:ext cx="0" cy="365760"/>
          </a:xfrm>
          <a:prstGeom prst="line">
            <a:avLst/>
          </a:prstGeom>
          <a:ln w="28575">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646920" y="3246120"/>
            <a:ext cx="0" cy="365760"/>
          </a:xfrm>
          <a:prstGeom prst="line">
            <a:avLst/>
          </a:prstGeom>
          <a:ln w="28575">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646920" y="4434840"/>
            <a:ext cx="0" cy="365760"/>
          </a:xfrm>
          <a:prstGeom prst="line">
            <a:avLst/>
          </a:prstGeom>
          <a:ln w="28575">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63840" y="5852160"/>
            <a:ext cx="3566160" cy="365760"/>
          </a:xfrm>
          <a:prstGeom prst="rect">
            <a:avLst/>
          </a:prstGeom>
          <a:noFill/>
        </p:spPr>
        <p:txBody>
          <a:bodyPr wrap="square" anchor="t" lIns="0" rIns="0" tIns="0" bIns="0">
            <a:spAutoFit/>
          </a:bodyPr>
          <a:lstStyle/>
          <a:p>
            <a:pPr algn="ctr">
              <a:spcAft>
                <a:spcPts val="600"/>
              </a:spcAft>
            </a:pPr>
            <a:r>
              <a:rPr sz="1200" b="0" i="1">
                <a:solidFill>
                  <a:srgbClr val="C9D3E3"/>
                </a:solidFill>
                <a:latin typeface="Calibri"/>
              </a:rPr>
              <a:t>Recovering knowledge, layer by layer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Agenda</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2 / 20</a:t>
            </a:r>
          </a:p>
        </p:txBody>
      </p:sp>
      <p:sp>
        <p:nvSpPr>
          <p:cNvPr id="5" name="Rounded Rectangle 4"/>
          <p:cNvSpPr/>
          <p:nvPr/>
        </p:nvSpPr>
        <p:spPr>
          <a:xfrm>
            <a:off x="548640" y="1463040"/>
            <a:ext cx="539496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664208"/>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01</a:t>
            </a:r>
          </a:p>
        </p:txBody>
      </p:sp>
      <p:sp>
        <p:nvSpPr>
          <p:cNvPr id="7" name="TextBox 6"/>
          <p:cNvSpPr txBox="1"/>
          <p:nvPr/>
        </p:nvSpPr>
        <p:spPr>
          <a:xfrm>
            <a:off x="1554480" y="1463040"/>
            <a:ext cx="4206240" cy="960120"/>
          </a:xfrm>
          <a:prstGeom prst="rect">
            <a:avLst/>
          </a:prstGeom>
          <a:noFill/>
        </p:spPr>
        <p:txBody>
          <a:bodyPr wrap="square" anchor="ctr" lIns="0" rIns="0" tIns="0" bIns="0">
            <a:spAutoFit/>
          </a:bodyPr>
          <a:lstStyle/>
          <a:p>
            <a:pPr algn="l">
              <a:spcAft>
                <a:spcPts val="600"/>
              </a:spcAft>
            </a:pPr>
            <a:r>
              <a:rPr sz="1800" b="0" i="0">
                <a:solidFill>
                  <a:srgbClr val="1F2937"/>
                </a:solidFill>
                <a:latin typeface="Calibri"/>
              </a:rPr>
              <a:t>Definition and key concepts</a:t>
            </a:r>
          </a:p>
        </p:txBody>
      </p:sp>
      <p:sp>
        <p:nvSpPr>
          <p:cNvPr id="8" name="Rounded Rectangle 7"/>
          <p:cNvSpPr/>
          <p:nvPr/>
        </p:nvSpPr>
        <p:spPr>
          <a:xfrm>
            <a:off x="548640" y="2651760"/>
            <a:ext cx="539496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2852928"/>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02</a:t>
            </a:r>
          </a:p>
        </p:txBody>
      </p:sp>
      <p:sp>
        <p:nvSpPr>
          <p:cNvPr id="10" name="TextBox 9"/>
          <p:cNvSpPr txBox="1"/>
          <p:nvPr/>
        </p:nvSpPr>
        <p:spPr>
          <a:xfrm>
            <a:off x="1554480" y="2651760"/>
            <a:ext cx="4206240" cy="960120"/>
          </a:xfrm>
          <a:prstGeom prst="rect">
            <a:avLst/>
          </a:prstGeom>
          <a:noFill/>
        </p:spPr>
        <p:txBody>
          <a:bodyPr wrap="square" anchor="ctr" lIns="0" rIns="0" tIns="0" bIns="0">
            <a:spAutoFit/>
          </a:bodyPr>
          <a:lstStyle/>
          <a:p>
            <a:pPr algn="l">
              <a:spcAft>
                <a:spcPts val="600"/>
              </a:spcAft>
            </a:pPr>
            <a:r>
              <a:rPr sz="1800" b="0" i="0">
                <a:solidFill>
                  <a:srgbClr val="1F2937"/>
                </a:solidFill>
                <a:latin typeface="Calibri"/>
              </a:rPr>
              <a:t>Purpose and applications</a:t>
            </a:r>
          </a:p>
        </p:txBody>
      </p:sp>
      <p:sp>
        <p:nvSpPr>
          <p:cNvPr id="11" name="Rounded Rectangle 10"/>
          <p:cNvSpPr/>
          <p:nvPr/>
        </p:nvSpPr>
        <p:spPr>
          <a:xfrm>
            <a:off x="548640" y="3840480"/>
            <a:ext cx="539496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 y="4041648"/>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03</a:t>
            </a:r>
          </a:p>
        </p:txBody>
      </p:sp>
      <p:sp>
        <p:nvSpPr>
          <p:cNvPr id="13" name="TextBox 12"/>
          <p:cNvSpPr txBox="1"/>
          <p:nvPr/>
        </p:nvSpPr>
        <p:spPr>
          <a:xfrm>
            <a:off x="1554480" y="3840480"/>
            <a:ext cx="4206240" cy="960120"/>
          </a:xfrm>
          <a:prstGeom prst="rect">
            <a:avLst/>
          </a:prstGeom>
          <a:noFill/>
        </p:spPr>
        <p:txBody>
          <a:bodyPr wrap="square" anchor="ctr" lIns="0" rIns="0" tIns="0" bIns="0">
            <a:spAutoFit/>
          </a:bodyPr>
          <a:lstStyle/>
          <a:p>
            <a:pPr algn="l">
              <a:spcAft>
                <a:spcPts val="600"/>
              </a:spcAft>
            </a:pPr>
            <a:r>
              <a:rPr sz="1800" b="0" i="0">
                <a:solidFill>
                  <a:srgbClr val="1F2937"/>
                </a:solidFill>
                <a:latin typeface="Calibri"/>
              </a:rPr>
              <a:t>Levels of abstraction</a:t>
            </a:r>
          </a:p>
        </p:txBody>
      </p:sp>
      <p:sp>
        <p:nvSpPr>
          <p:cNvPr id="14" name="Rounded Rectangle 13"/>
          <p:cNvSpPr/>
          <p:nvPr/>
        </p:nvSpPr>
        <p:spPr>
          <a:xfrm>
            <a:off x="548640" y="5029200"/>
            <a:ext cx="539496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5230368"/>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04</a:t>
            </a:r>
          </a:p>
        </p:txBody>
      </p:sp>
      <p:sp>
        <p:nvSpPr>
          <p:cNvPr id="16" name="TextBox 15"/>
          <p:cNvSpPr txBox="1"/>
          <p:nvPr/>
        </p:nvSpPr>
        <p:spPr>
          <a:xfrm>
            <a:off x="1554480" y="5029200"/>
            <a:ext cx="4206240" cy="960120"/>
          </a:xfrm>
          <a:prstGeom prst="rect">
            <a:avLst/>
          </a:prstGeom>
          <a:noFill/>
        </p:spPr>
        <p:txBody>
          <a:bodyPr wrap="square" anchor="ctr" lIns="0" rIns="0" tIns="0" bIns="0">
            <a:spAutoFit/>
          </a:bodyPr>
          <a:lstStyle/>
          <a:p>
            <a:pPr algn="l">
              <a:spcAft>
                <a:spcPts val="600"/>
              </a:spcAft>
            </a:pPr>
            <a:r>
              <a:rPr sz="1800" b="0" i="0">
                <a:solidFill>
                  <a:srgbClr val="1F2937"/>
                </a:solidFill>
                <a:latin typeface="Calibri"/>
              </a:rPr>
              <a:t>The six-stage process</a:t>
            </a:r>
          </a:p>
        </p:txBody>
      </p:sp>
      <p:sp>
        <p:nvSpPr>
          <p:cNvPr id="17" name="Rounded Rectangle 16"/>
          <p:cNvSpPr/>
          <p:nvPr/>
        </p:nvSpPr>
        <p:spPr>
          <a:xfrm>
            <a:off x="6245352" y="1463040"/>
            <a:ext cx="539496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73952" y="1664208"/>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05</a:t>
            </a:r>
          </a:p>
        </p:txBody>
      </p:sp>
      <p:sp>
        <p:nvSpPr>
          <p:cNvPr id="19" name="TextBox 18"/>
          <p:cNvSpPr txBox="1"/>
          <p:nvPr/>
        </p:nvSpPr>
        <p:spPr>
          <a:xfrm>
            <a:off x="7251192" y="1463040"/>
            <a:ext cx="4206240" cy="960120"/>
          </a:xfrm>
          <a:prstGeom prst="rect">
            <a:avLst/>
          </a:prstGeom>
          <a:noFill/>
        </p:spPr>
        <p:txBody>
          <a:bodyPr wrap="square" anchor="ctr" lIns="0" rIns="0" tIns="0" bIns="0">
            <a:spAutoFit/>
          </a:bodyPr>
          <a:lstStyle/>
          <a:p>
            <a:pPr algn="l">
              <a:spcAft>
                <a:spcPts val="600"/>
              </a:spcAft>
            </a:pPr>
            <a:r>
              <a:rPr sz="1800" b="0" i="0">
                <a:solidFill>
                  <a:srgbClr val="1F2937"/>
                </a:solidFill>
                <a:latin typeface="Calibri"/>
              </a:rPr>
              <a:t>Static and dynamic analysis</a:t>
            </a:r>
          </a:p>
        </p:txBody>
      </p:sp>
      <p:sp>
        <p:nvSpPr>
          <p:cNvPr id="20" name="Rounded Rectangle 19"/>
          <p:cNvSpPr/>
          <p:nvPr/>
        </p:nvSpPr>
        <p:spPr>
          <a:xfrm>
            <a:off x="6245352" y="2651760"/>
            <a:ext cx="539496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73952" y="2852928"/>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06</a:t>
            </a:r>
          </a:p>
        </p:txBody>
      </p:sp>
      <p:sp>
        <p:nvSpPr>
          <p:cNvPr id="22" name="TextBox 21"/>
          <p:cNvSpPr txBox="1"/>
          <p:nvPr/>
        </p:nvSpPr>
        <p:spPr>
          <a:xfrm>
            <a:off x="7251192" y="2651760"/>
            <a:ext cx="4206240" cy="960120"/>
          </a:xfrm>
          <a:prstGeom prst="rect">
            <a:avLst/>
          </a:prstGeom>
          <a:noFill/>
        </p:spPr>
        <p:txBody>
          <a:bodyPr wrap="square" anchor="ctr" lIns="0" rIns="0" tIns="0" bIns="0">
            <a:spAutoFit/>
          </a:bodyPr>
          <a:lstStyle/>
          <a:p>
            <a:pPr algn="l">
              <a:spcAft>
                <a:spcPts val="600"/>
              </a:spcAft>
            </a:pPr>
            <a:r>
              <a:rPr sz="1800" b="0" i="0">
                <a:solidFill>
                  <a:srgbClr val="1F2937"/>
                </a:solidFill>
                <a:latin typeface="Calibri"/>
              </a:rPr>
              <a:t>Reverse engineering on GitHub</a:t>
            </a:r>
          </a:p>
        </p:txBody>
      </p:sp>
      <p:sp>
        <p:nvSpPr>
          <p:cNvPr id="23" name="Rounded Rectangle 22"/>
          <p:cNvSpPr/>
          <p:nvPr/>
        </p:nvSpPr>
        <p:spPr>
          <a:xfrm>
            <a:off x="6245352" y="3840480"/>
            <a:ext cx="539496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3952" y="4041648"/>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07</a:t>
            </a:r>
          </a:p>
        </p:txBody>
      </p:sp>
      <p:sp>
        <p:nvSpPr>
          <p:cNvPr id="25" name="TextBox 24"/>
          <p:cNvSpPr txBox="1"/>
          <p:nvPr/>
        </p:nvSpPr>
        <p:spPr>
          <a:xfrm>
            <a:off x="7251192" y="3840480"/>
            <a:ext cx="4206240" cy="960120"/>
          </a:xfrm>
          <a:prstGeom prst="rect">
            <a:avLst/>
          </a:prstGeom>
          <a:noFill/>
        </p:spPr>
        <p:txBody>
          <a:bodyPr wrap="square" anchor="ctr" lIns="0" rIns="0" tIns="0" bIns="0">
            <a:spAutoFit/>
          </a:bodyPr>
          <a:lstStyle/>
          <a:p>
            <a:pPr algn="l">
              <a:spcAft>
                <a:spcPts val="600"/>
              </a:spcAft>
            </a:pPr>
            <a:r>
              <a:rPr sz="1800" b="0" i="0">
                <a:solidFill>
                  <a:srgbClr val="1F2937"/>
                </a:solidFill>
                <a:latin typeface="Calibri"/>
              </a:rPr>
              <a:t>Tools, legal and ethical aspects</a:t>
            </a:r>
          </a:p>
        </p:txBody>
      </p:sp>
      <p:sp>
        <p:nvSpPr>
          <p:cNvPr id="26" name="Rounded Rectangle 25"/>
          <p:cNvSpPr/>
          <p:nvPr/>
        </p:nvSpPr>
        <p:spPr>
          <a:xfrm>
            <a:off x="6245352" y="5029200"/>
            <a:ext cx="539496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73952" y="5230368"/>
            <a:ext cx="548640" cy="5486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08</a:t>
            </a:r>
          </a:p>
        </p:txBody>
      </p:sp>
      <p:sp>
        <p:nvSpPr>
          <p:cNvPr id="28" name="TextBox 27"/>
          <p:cNvSpPr txBox="1"/>
          <p:nvPr/>
        </p:nvSpPr>
        <p:spPr>
          <a:xfrm>
            <a:off x="7251192" y="5029200"/>
            <a:ext cx="4206240" cy="960120"/>
          </a:xfrm>
          <a:prstGeom prst="rect">
            <a:avLst/>
          </a:prstGeom>
          <a:noFill/>
        </p:spPr>
        <p:txBody>
          <a:bodyPr wrap="square" anchor="ctr" lIns="0" rIns="0" tIns="0" bIns="0">
            <a:spAutoFit/>
          </a:bodyPr>
          <a:lstStyle/>
          <a:p>
            <a:pPr algn="l">
              <a:spcAft>
                <a:spcPts val="600"/>
              </a:spcAft>
            </a:pPr>
            <a:r>
              <a:rPr sz="1800" b="0" i="0">
                <a:solidFill>
                  <a:srgbClr val="1F2937"/>
                </a:solidFill>
                <a:latin typeface="Calibri"/>
              </a:rPr>
              <a:t>Best practices and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What Is Reverse Engineering?</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3 / 20</a:t>
            </a:r>
          </a:p>
        </p:txBody>
      </p:sp>
      <p:sp>
        <p:nvSpPr>
          <p:cNvPr id="5" name="Rounded Rectangle 4"/>
          <p:cNvSpPr/>
          <p:nvPr/>
        </p:nvSpPr>
        <p:spPr>
          <a:xfrm>
            <a:off x="548640" y="1463040"/>
            <a:ext cx="5760720" cy="22860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212080" cy="1645920"/>
          </a:xfrm>
          <a:prstGeom prst="rect">
            <a:avLst/>
          </a:prstGeom>
          <a:noFill/>
        </p:spPr>
        <p:txBody>
          <a:bodyPr wrap="square" anchor="t" lIns="0" rIns="0" tIns="0" bIns="0">
            <a:spAutoFit/>
          </a:bodyPr>
          <a:lstStyle/>
          <a:p>
            <a:pPr algn="l">
              <a:spcAft>
                <a:spcPts val="600"/>
              </a:spcAft>
            </a:pPr>
            <a:r>
              <a:rPr sz="1700" b="0" i="1">
                <a:solidFill>
                  <a:srgbClr val="14213D"/>
                </a:solidFill>
                <a:latin typeface="Cambria"/>
              </a:rPr>
              <a:t>“The process of analysing a subject system to identify the system’s components and their interrelationships and create representations of the system in another form or at a higher level of abstraction.”</a:t>
            </a:r>
          </a:p>
        </p:txBody>
      </p:sp>
      <p:sp>
        <p:nvSpPr>
          <p:cNvPr id="7" name="TextBox 6"/>
          <p:cNvSpPr txBox="1"/>
          <p:nvPr/>
        </p:nvSpPr>
        <p:spPr>
          <a:xfrm>
            <a:off x="822960" y="3291840"/>
            <a:ext cx="5212080" cy="365760"/>
          </a:xfrm>
          <a:prstGeom prst="rect">
            <a:avLst/>
          </a:prstGeom>
          <a:noFill/>
        </p:spPr>
        <p:txBody>
          <a:bodyPr wrap="square" anchor="t" lIns="0" rIns="0" tIns="0" bIns="0">
            <a:spAutoFit/>
          </a:bodyPr>
          <a:lstStyle/>
          <a:p>
            <a:pPr algn="l">
              <a:spcAft>
                <a:spcPts val="600"/>
              </a:spcAft>
            </a:pPr>
            <a:r>
              <a:rPr sz="1200" b="0" i="0">
                <a:solidFill>
                  <a:srgbClr val="6B7280"/>
                </a:solidFill>
                <a:latin typeface="Calibri"/>
              </a:rPr>
              <a:t>— Chikofsky &amp; Cross, IEEE Software, 1990</a:t>
            </a:r>
          </a:p>
        </p:txBody>
      </p:sp>
      <p:sp>
        <p:nvSpPr>
          <p:cNvPr id="8" name="TextBox 7"/>
          <p:cNvSpPr txBox="1"/>
          <p:nvPr/>
        </p:nvSpPr>
        <p:spPr>
          <a:xfrm>
            <a:off x="548640" y="4023360"/>
            <a:ext cx="5760720" cy="2103120"/>
          </a:xfrm>
          <a:prstGeom prst="rect">
            <a:avLst/>
          </a:prstGeom>
          <a:noFill/>
        </p:spPr>
        <p:txBody>
          <a:bodyPr wrap="square" anchor="t" lIns="0" rIns="0" tIns="0" bIns="0">
            <a:spAutoFit/>
          </a:bodyPr>
          <a:lstStyle/>
          <a:p>
            <a:pPr algn="l" marL="256032" indent="-256032">
              <a:spcAft>
                <a:spcPts val="800"/>
              </a:spcAft>
              <a:buClr>
                <a:srgbClr val="FCA311"/>
              </a:buClr>
              <a:buFont typeface="Arial"/>
              <a:buChar char="•"/>
            </a:pPr>
            <a:r>
              <a:rPr sz="1600" b="0" i="0">
                <a:solidFill>
                  <a:srgbClr val="1F2937"/>
                </a:solidFill>
                <a:latin typeface="Calibri"/>
              </a:rPr>
              <a:t>Starts from a finished product, not from a specification</a:t>
            </a:r>
          </a:p>
          <a:p>
            <a:pPr algn="l" marL="256032" indent="-256032">
              <a:spcAft>
                <a:spcPts val="800"/>
              </a:spcAft>
              <a:buClr>
                <a:srgbClr val="FCA311"/>
              </a:buClr>
              <a:buFont typeface="Arial"/>
              <a:buChar char="•"/>
            </a:pPr>
            <a:r>
              <a:rPr sz="1600" b="0" i="0">
                <a:solidFill>
                  <a:srgbClr val="1F2937"/>
                </a:solidFill>
                <a:latin typeface="Calibri"/>
              </a:rPr>
              <a:t>Recovers structure, behaviour and design intent</a:t>
            </a:r>
          </a:p>
          <a:p>
            <a:pPr algn="l" marL="256032" indent="-256032">
              <a:spcAft>
                <a:spcPts val="800"/>
              </a:spcAft>
              <a:buClr>
                <a:srgbClr val="FCA311"/>
              </a:buClr>
              <a:buFont typeface="Arial"/>
              <a:buChar char="•"/>
            </a:pPr>
            <a:r>
              <a:rPr sz="1600" b="0" i="0">
                <a:solidFill>
                  <a:srgbClr val="1F2937"/>
                </a:solidFill>
                <a:latin typeface="Calibri"/>
              </a:rPr>
              <a:t>Does not change the system — it explains it</a:t>
            </a:r>
          </a:p>
          <a:p>
            <a:pPr algn="l" marL="256032" indent="-256032">
              <a:spcAft>
                <a:spcPts val="800"/>
              </a:spcAft>
              <a:buClr>
                <a:srgbClr val="FCA311"/>
              </a:buClr>
              <a:buFont typeface="Arial"/>
              <a:buChar char="•"/>
            </a:pPr>
            <a:r>
              <a:rPr sz="1600" b="0" i="0">
                <a:solidFill>
                  <a:srgbClr val="1F2937"/>
                </a:solidFill>
                <a:latin typeface="Calibri"/>
              </a:rPr>
              <a:t>Applies to software, hardware, protocols and file formats</a:t>
            </a:r>
          </a:p>
        </p:txBody>
      </p:sp>
      <p:sp>
        <p:nvSpPr>
          <p:cNvPr id="9" name="Rounded Rectangle 8"/>
          <p:cNvSpPr/>
          <p:nvPr/>
        </p:nvSpPr>
        <p:spPr>
          <a:xfrm>
            <a:off x="7132320" y="1463040"/>
            <a:ext cx="4480560" cy="10972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800" b="1" i="0">
                <a:solidFill>
                  <a:srgbClr val="FFFFFF"/>
                </a:solidFill>
                <a:latin typeface="Calibri"/>
              </a:rPr>
              <a:t>Existing system</a:t>
            </a:r>
          </a:p>
          <a:p>
            <a:pPr algn="ctr">
              <a:spcAft>
                <a:spcPts val="0"/>
              </a:spcAft>
            </a:pPr>
            <a:r>
              <a:rPr sz="1400" b="0" i="0">
                <a:solidFill>
                  <a:srgbClr val="FFFFFF"/>
                </a:solidFill>
                <a:latin typeface="Calibri"/>
              </a:rPr>
              <a:t>Binary, device or protocol</a:t>
            </a:r>
          </a:p>
        </p:txBody>
      </p:sp>
      <p:cxnSp>
        <p:nvCxnSpPr>
          <p:cNvPr id="10" name="Connector 9"/>
          <p:cNvCxnSpPr/>
          <p:nvPr/>
        </p:nvCxnSpPr>
        <p:spPr>
          <a:xfrm>
            <a:off x="9372600" y="2578608"/>
            <a:ext cx="0" cy="45720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132320" y="3063240"/>
            <a:ext cx="4480560" cy="10972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800" b="1" i="0">
                <a:solidFill>
                  <a:srgbClr val="FFFFFF"/>
                </a:solidFill>
                <a:latin typeface="Calibri"/>
              </a:rPr>
              <a:t>Systematic analysis</a:t>
            </a:r>
          </a:p>
          <a:p>
            <a:pPr algn="ctr">
              <a:spcAft>
                <a:spcPts val="0"/>
              </a:spcAft>
            </a:pPr>
            <a:r>
              <a:rPr sz="1400" b="0" i="0">
                <a:solidFill>
                  <a:srgbClr val="FFFFFF"/>
                </a:solidFill>
                <a:latin typeface="Calibri"/>
              </a:rPr>
              <a:t>Static and dynamic examination</a:t>
            </a:r>
          </a:p>
        </p:txBody>
      </p:sp>
      <p:cxnSp>
        <p:nvCxnSpPr>
          <p:cNvPr id="12" name="Connector 11"/>
          <p:cNvCxnSpPr/>
          <p:nvPr/>
        </p:nvCxnSpPr>
        <p:spPr>
          <a:xfrm>
            <a:off x="9372600" y="4178808"/>
            <a:ext cx="0" cy="45720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132320" y="4663440"/>
            <a:ext cx="4480560" cy="1097280"/>
          </a:xfrm>
          <a:prstGeom prst="roundRect">
            <a:avLst>
              <a:gd name="adj" fmla="val 8000"/>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800" b="1" i="0">
                <a:solidFill>
                  <a:srgbClr val="14213D"/>
                </a:solidFill>
                <a:latin typeface="Calibri"/>
              </a:rPr>
              <a:t>Recovered knowledge</a:t>
            </a:r>
          </a:p>
          <a:p>
            <a:pPr algn="ctr">
              <a:spcAft>
                <a:spcPts val="0"/>
              </a:spcAft>
            </a:pPr>
            <a:r>
              <a:rPr sz="1400" b="0" i="0">
                <a:solidFill>
                  <a:srgbClr val="14213D"/>
                </a:solidFill>
                <a:latin typeface="Calibri"/>
              </a:rPr>
              <a:t>Models, documentation, specifications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Why Reverse Engineering?</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4 / 20</a:t>
            </a:r>
          </a:p>
        </p:txBody>
      </p:sp>
      <p:sp>
        <p:nvSpPr>
          <p:cNvPr id="5" name="Rounded Rectangle 4"/>
          <p:cNvSpPr/>
          <p:nvPr/>
        </p:nvSpPr>
        <p:spPr>
          <a:xfrm>
            <a:off x="548640" y="1463040"/>
            <a:ext cx="3474720" cy="2103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1737360"/>
            <a:ext cx="502920" cy="50292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1</a:t>
            </a:r>
          </a:p>
        </p:txBody>
      </p:sp>
      <p:sp>
        <p:nvSpPr>
          <p:cNvPr id="7" name="TextBox 6"/>
          <p:cNvSpPr txBox="1"/>
          <p:nvPr/>
        </p:nvSpPr>
        <p:spPr>
          <a:xfrm>
            <a:off x="1508760" y="1737360"/>
            <a:ext cx="2377440" cy="502920"/>
          </a:xfrm>
          <a:prstGeom prst="rect">
            <a:avLst/>
          </a:prstGeom>
          <a:noFill/>
        </p:spPr>
        <p:txBody>
          <a:bodyPr wrap="square" anchor="ctr" lIns="0" rIns="0" tIns="0" bIns="0">
            <a:spAutoFit/>
          </a:bodyPr>
          <a:lstStyle/>
          <a:p>
            <a:pPr algn="l">
              <a:spcAft>
                <a:spcPts val="600"/>
              </a:spcAft>
            </a:pPr>
            <a:r>
              <a:rPr sz="1700" b="1" i="0">
                <a:solidFill>
                  <a:srgbClr val="14213D"/>
                </a:solidFill>
                <a:latin typeface="Calibri"/>
              </a:rPr>
              <a:t>Legacy maintenance</a:t>
            </a:r>
          </a:p>
        </p:txBody>
      </p:sp>
      <p:sp>
        <p:nvSpPr>
          <p:cNvPr id="8" name="TextBox 7"/>
          <p:cNvSpPr txBox="1"/>
          <p:nvPr/>
        </p:nvSpPr>
        <p:spPr>
          <a:xfrm>
            <a:off x="822959" y="2423160"/>
            <a:ext cx="2971800" cy="105156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Understand old systems whose documentation or original developers are gone.</a:t>
            </a:r>
          </a:p>
        </p:txBody>
      </p:sp>
      <p:sp>
        <p:nvSpPr>
          <p:cNvPr id="9" name="Rounded Rectangle 8"/>
          <p:cNvSpPr/>
          <p:nvPr/>
        </p:nvSpPr>
        <p:spPr>
          <a:xfrm>
            <a:off x="4343400" y="1463040"/>
            <a:ext cx="3474720" cy="2103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20" y="173736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2</a:t>
            </a:r>
          </a:p>
        </p:txBody>
      </p:sp>
      <p:sp>
        <p:nvSpPr>
          <p:cNvPr id="11" name="TextBox 10"/>
          <p:cNvSpPr txBox="1"/>
          <p:nvPr/>
        </p:nvSpPr>
        <p:spPr>
          <a:xfrm>
            <a:off x="5303520" y="1737360"/>
            <a:ext cx="2377440" cy="502920"/>
          </a:xfrm>
          <a:prstGeom prst="rect">
            <a:avLst/>
          </a:prstGeom>
          <a:noFill/>
        </p:spPr>
        <p:txBody>
          <a:bodyPr wrap="square" anchor="ctr" lIns="0" rIns="0" tIns="0" bIns="0">
            <a:spAutoFit/>
          </a:bodyPr>
          <a:lstStyle/>
          <a:p>
            <a:pPr algn="l">
              <a:spcAft>
                <a:spcPts val="600"/>
              </a:spcAft>
            </a:pPr>
            <a:r>
              <a:rPr sz="1700" b="1" i="0">
                <a:solidFill>
                  <a:srgbClr val="14213D"/>
                </a:solidFill>
                <a:latin typeface="Calibri"/>
              </a:rPr>
              <a:t>Interoperability</a:t>
            </a:r>
          </a:p>
        </p:txBody>
      </p:sp>
      <p:sp>
        <p:nvSpPr>
          <p:cNvPr id="12" name="TextBox 11"/>
          <p:cNvSpPr txBox="1"/>
          <p:nvPr/>
        </p:nvSpPr>
        <p:spPr>
          <a:xfrm>
            <a:off x="4617720" y="2423160"/>
            <a:ext cx="2971800" cy="105156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Make new software work with existing formats, protocols and devices.</a:t>
            </a:r>
          </a:p>
        </p:txBody>
      </p:sp>
      <p:sp>
        <p:nvSpPr>
          <p:cNvPr id="13" name="Rounded Rectangle 12"/>
          <p:cNvSpPr/>
          <p:nvPr/>
        </p:nvSpPr>
        <p:spPr>
          <a:xfrm>
            <a:off x="8138160" y="1463040"/>
            <a:ext cx="3474720" cy="2103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12480" y="1737360"/>
            <a:ext cx="502920" cy="50292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3</a:t>
            </a:r>
          </a:p>
        </p:txBody>
      </p:sp>
      <p:sp>
        <p:nvSpPr>
          <p:cNvPr id="15" name="TextBox 14"/>
          <p:cNvSpPr txBox="1"/>
          <p:nvPr/>
        </p:nvSpPr>
        <p:spPr>
          <a:xfrm>
            <a:off x="9098280" y="1737360"/>
            <a:ext cx="2377440" cy="502920"/>
          </a:xfrm>
          <a:prstGeom prst="rect">
            <a:avLst/>
          </a:prstGeom>
          <a:noFill/>
        </p:spPr>
        <p:txBody>
          <a:bodyPr wrap="square" anchor="ctr" lIns="0" rIns="0" tIns="0" bIns="0">
            <a:spAutoFit/>
          </a:bodyPr>
          <a:lstStyle/>
          <a:p>
            <a:pPr algn="l">
              <a:spcAft>
                <a:spcPts val="600"/>
              </a:spcAft>
            </a:pPr>
            <a:r>
              <a:rPr sz="1700" b="1" i="0">
                <a:solidFill>
                  <a:srgbClr val="14213D"/>
                </a:solidFill>
                <a:latin typeface="Calibri"/>
              </a:rPr>
              <a:t>Malware analysis</a:t>
            </a:r>
          </a:p>
        </p:txBody>
      </p:sp>
      <p:sp>
        <p:nvSpPr>
          <p:cNvPr id="16" name="TextBox 15"/>
          <p:cNvSpPr txBox="1"/>
          <p:nvPr/>
        </p:nvSpPr>
        <p:spPr>
          <a:xfrm>
            <a:off x="8412480" y="2423160"/>
            <a:ext cx="2971800" cy="105156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Determine what malicious code does, how it spreads and how to detect it.</a:t>
            </a:r>
          </a:p>
        </p:txBody>
      </p:sp>
      <p:sp>
        <p:nvSpPr>
          <p:cNvPr id="17" name="Rounded Rectangle 16"/>
          <p:cNvSpPr/>
          <p:nvPr/>
        </p:nvSpPr>
        <p:spPr>
          <a:xfrm>
            <a:off x="548640" y="3840480"/>
            <a:ext cx="3474720" cy="2103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59" y="411480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4</a:t>
            </a:r>
          </a:p>
        </p:txBody>
      </p:sp>
      <p:sp>
        <p:nvSpPr>
          <p:cNvPr id="19" name="TextBox 18"/>
          <p:cNvSpPr txBox="1"/>
          <p:nvPr/>
        </p:nvSpPr>
        <p:spPr>
          <a:xfrm>
            <a:off x="1508760" y="4114800"/>
            <a:ext cx="2377440" cy="502920"/>
          </a:xfrm>
          <a:prstGeom prst="rect">
            <a:avLst/>
          </a:prstGeom>
          <a:noFill/>
        </p:spPr>
        <p:txBody>
          <a:bodyPr wrap="square" anchor="ctr" lIns="0" rIns="0" tIns="0" bIns="0">
            <a:spAutoFit/>
          </a:bodyPr>
          <a:lstStyle/>
          <a:p>
            <a:pPr algn="l">
              <a:spcAft>
                <a:spcPts val="600"/>
              </a:spcAft>
            </a:pPr>
            <a:r>
              <a:rPr sz="1700" b="1" i="0">
                <a:solidFill>
                  <a:srgbClr val="14213D"/>
                </a:solidFill>
                <a:latin typeface="Calibri"/>
              </a:rPr>
              <a:t>Vulnerability research</a:t>
            </a:r>
          </a:p>
        </p:txBody>
      </p:sp>
      <p:sp>
        <p:nvSpPr>
          <p:cNvPr id="20" name="TextBox 19"/>
          <p:cNvSpPr txBox="1"/>
          <p:nvPr/>
        </p:nvSpPr>
        <p:spPr>
          <a:xfrm>
            <a:off x="822959" y="4800600"/>
            <a:ext cx="2971800" cy="105156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Find and responsibly report security weaknesses before attackers do.</a:t>
            </a:r>
          </a:p>
        </p:txBody>
      </p:sp>
      <p:sp>
        <p:nvSpPr>
          <p:cNvPr id="21" name="Rounded Rectangle 20"/>
          <p:cNvSpPr/>
          <p:nvPr/>
        </p:nvSpPr>
        <p:spPr>
          <a:xfrm>
            <a:off x="4343400" y="3840480"/>
            <a:ext cx="3474720" cy="2103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17720" y="4114800"/>
            <a:ext cx="502920" cy="50292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5</a:t>
            </a:r>
          </a:p>
        </p:txBody>
      </p:sp>
      <p:sp>
        <p:nvSpPr>
          <p:cNvPr id="23" name="TextBox 22"/>
          <p:cNvSpPr txBox="1"/>
          <p:nvPr/>
        </p:nvSpPr>
        <p:spPr>
          <a:xfrm>
            <a:off x="5303520" y="4114800"/>
            <a:ext cx="2377440" cy="502920"/>
          </a:xfrm>
          <a:prstGeom prst="rect">
            <a:avLst/>
          </a:prstGeom>
          <a:noFill/>
        </p:spPr>
        <p:txBody>
          <a:bodyPr wrap="square" anchor="ctr" lIns="0" rIns="0" tIns="0" bIns="0">
            <a:spAutoFit/>
          </a:bodyPr>
          <a:lstStyle/>
          <a:p>
            <a:pPr algn="l">
              <a:spcAft>
                <a:spcPts val="600"/>
              </a:spcAft>
            </a:pPr>
            <a:r>
              <a:rPr sz="1700" b="1" i="0">
                <a:solidFill>
                  <a:srgbClr val="14213D"/>
                </a:solidFill>
                <a:latin typeface="Calibri"/>
              </a:rPr>
              <a:t>Documentation recovery</a:t>
            </a:r>
          </a:p>
        </p:txBody>
      </p:sp>
      <p:sp>
        <p:nvSpPr>
          <p:cNvPr id="24" name="TextBox 23"/>
          <p:cNvSpPr txBox="1"/>
          <p:nvPr/>
        </p:nvSpPr>
        <p:spPr>
          <a:xfrm>
            <a:off x="4617720" y="4800600"/>
            <a:ext cx="2971800" cy="105156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Rebuild design documents and specifications from working code.</a:t>
            </a:r>
          </a:p>
        </p:txBody>
      </p:sp>
      <p:sp>
        <p:nvSpPr>
          <p:cNvPr id="25" name="Rounded Rectangle 24"/>
          <p:cNvSpPr/>
          <p:nvPr/>
        </p:nvSpPr>
        <p:spPr>
          <a:xfrm>
            <a:off x="8138160" y="3840480"/>
            <a:ext cx="3474720" cy="2103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12480" y="411480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6</a:t>
            </a:r>
          </a:p>
        </p:txBody>
      </p:sp>
      <p:sp>
        <p:nvSpPr>
          <p:cNvPr id="27" name="TextBox 26"/>
          <p:cNvSpPr txBox="1"/>
          <p:nvPr/>
        </p:nvSpPr>
        <p:spPr>
          <a:xfrm>
            <a:off x="9098280" y="4114800"/>
            <a:ext cx="2377440" cy="502920"/>
          </a:xfrm>
          <a:prstGeom prst="rect">
            <a:avLst/>
          </a:prstGeom>
          <a:noFill/>
        </p:spPr>
        <p:txBody>
          <a:bodyPr wrap="square" anchor="ctr" lIns="0" rIns="0" tIns="0" bIns="0">
            <a:spAutoFit/>
          </a:bodyPr>
          <a:lstStyle/>
          <a:p>
            <a:pPr algn="l">
              <a:spcAft>
                <a:spcPts val="600"/>
              </a:spcAft>
            </a:pPr>
            <a:r>
              <a:rPr sz="1700" b="1" i="0">
                <a:solidFill>
                  <a:srgbClr val="14213D"/>
                </a:solidFill>
                <a:latin typeface="Calibri"/>
              </a:rPr>
              <a:t>Quality &amp; failure analysis</a:t>
            </a:r>
          </a:p>
        </p:txBody>
      </p:sp>
      <p:sp>
        <p:nvSpPr>
          <p:cNvPr id="28" name="TextBox 27"/>
          <p:cNvSpPr txBox="1"/>
          <p:nvPr/>
        </p:nvSpPr>
        <p:spPr>
          <a:xfrm>
            <a:off x="8412480" y="4800600"/>
            <a:ext cx="2971800" cy="105156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Investigate defects, crashes and unexpected behaviour in products.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Forward vs Reverse Engineering</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5 / 20</a:t>
            </a:r>
          </a:p>
        </p:txBody>
      </p:sp>
      <p:sp>
        <p:nvSpPr>
          <p:cNvPr id="5" name="Rounded Rectangle 4"/>
          <p:cNvSpPr/>
          <p:nvPr/>
        </p:nvSpPr>
        <p:spPr>
          <a:xfrm>
            <a:off x="4480560" y="1600200"/>
            <a:ext cx="3200400" cy="8686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i="0">
                <a:solidFill>
                  <a:srgbClr val="FFFFFF"/>
                </a:solidFill>
                <a:latin typeface="Calibri"/>
              </a:rPr>
              <a:t>Requirements</a:t>
            </a:r>
          </a:p>
        </p:txBody>
      </p:sp>
      <p:sp>
        <p:nvSpPr>
          <p:cNvPr id="6" name="Rounded Rectangle 5"/>
          <p:cNvSpPr/>
          <p:nvPr/>
        </p:nvSpPr>
        <p:spPr>
          <a:xfrm>
            <a:off x="4480560" y="2971800"/>
            <a:ext cx="3200400" cy="8686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i="0">
                <a:solidFill>
                  <a:srgbClr val="FFFFFF"/>
                </a:solidFill>
                <a:latin typeface="Calibri"/>
              </a:rPr>
              <a:t>Design &amp; architecture</a:t>
            </a:r>
          </a:p>
        </p:txBody>
      </p:sp>
      <p:sp>
        <p:nvSpPr>
          <p:cNvPr id="7" name="Rounded Rectangle 6"/>
          <p:cNvSpPr/>
          <p:nvPr/>
        </p:nvSpPr>
        <p:spPr>
          <a:xfrm>
            <a:off x="4480560" y="4343400"/>
            <a:ext cx="3200400" cy="868680"/>
          </a:xfrm>
          <a:prstGeom prst="roundRect">
            <a:avLst>
              <a:gd name="adj" fmla="val 8000"/>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i="0">
                <a:solidFill>
                  <a:srgbClr val="FFFFFF"/>
                </a:solidFill>
                <a:latin typeface="Calibri"/>
              </a:rPr>
              <a:t>Implementation (code / binary)</a:t>
            </a:r>
          </a:p>
        </p:txBody>
      </p:sp>
      <p:cxnSp>
        <p:nvCxnSpPr>
          <p:cNvPr id="8" name="Connector 7"/>
          <p:cNvCxnSpPr/>
          <p:nvPr/>
        </p:nvCxnSpPr>
        <p:spPr>
          <a:xfrm>
            <a:off x="6080760" y="2487168"/>
            <a:ext cx="0" cy="457200"/>
          </a:xfrm>
          <a:prstGeom prst="line">
            <a:avLst/>
          </a:prstGeom>
          <a:ln w="1905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80760" y="3858768"/>
            <a:ext cx="0" cy="457200"/>
          </a:xfrm>
          <a:prstGeom prst="line">
            <a:avLst/>
          </a:prstGeom>
          <a:ln w="1905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977639" y="1645920"/>
            <a:ext cx="0" cy="3474720"/>
          </a:xfrm>
          <a:prstGeom prst="line">
            <a:avLst/>
          </a:prstGeom>
          <a:ln w="4445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183879" y="1645920"/>
            <a:ext cx="0" cy="3474720"/>
          </a:xfrm>
          <a:prstGeom prst="line">
            <a:avLst/>
          </a:prstGeom>
          <a:ln w="44450">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2651760"/>
            <a:ext cx="3200400" cy="1463040"/>
          </a:xfrm>
          <a:prstGeom prst="rect">
            <a:avLst/>
          </a:prstGeom>
          <a:noFill/>
        </p:spPr>
        <p:txBody>
          <a:bodyPr wrap="square" anchor="t" lIns="0" rIns="0" tIns="0" bIns="0">
            <a:spAutoFit/>
          </a:bodyPr>
          <a:lstStyle/>
          <a:p>
            <a:pPr algn="r">
              <a:spcAft>
                <a:spcPts val="600"/>
              </a:spcAft>
            </a:pPr>
            <a:r>
              <a:rPr sz="2000" b="1" i="0">
                <a:solidFill>
                  <a:srgbClr val="2A9D8F"/>
                </a:solidFill>
                <a:latin typeface="Calibri"/>
              </a:rPr>
              <a:t>Forward engineering</a:t>
            </a:r>
          </a:p>
          <a:p>
            <a:pPr algn="r">
              <a:spcAft>
                <a:spcPts val="600"/>
              </a:spcAft>
            </a:pPr>
            <a:r>
              <a:rPr sz="1500" b="0" i="0">
                <a:solidFill>
                  <a:srgbClr val="1F2937"/>
                </a:solidFill>
                <a:latin typeface="Calibri"/>
              </a:rPr>
              <a:t>From an idea to a working system: specify, design, then build.</a:t>
            </a:r>
          </a:p>
        </p:txBody>
      </p:sp>
      <p:sp>
        <p:nvSpPr>
          <p:cNvPr id="13" name="TextBox 12"/>
          <p:cNvSpPr txBox="1"/>
          <p:nvPr/>
        </p:nvSpPr>
        <p:spPr>
          <a:xfrm>
            <a:off x="8412480" y="2651760"/>
            <a:ext cx="3200400" cy="1463040"/>
          </a:xfrm>
          <a:prstGeom prst="rect">
            <a:avLst/>
          </a:prstGeom>
          <a:noFill/>
        </p:spPr>
        <p:txBody>
          <a:bodyPr wrap="square" anchor="t" lIns="0" rIns="0" tIns="0" bIns="0">
            <a:spAutoFit/>
          </a:bodyPr>
          <a:lstStyle/>
          <a:p>
            <a:pPr algn="l">
              <a:spcAft>
                <a:spcPts val="600"/>
              </a:spcAft>
            </a:pPr>
            <a:r>
              <a:rPr sz="2000" b="1" i="0">
                <a:solidFill>
                  <a:srgbClr val="FCA311"/>
                </a:solidFill>
                <a:latin typeface="Calibri"/>
              </a:rPr>
              <a:t>Reverse engineering</a:t>
            </a:r>
          </a:p>
          <a:p>
            <a:pPr algn="l">
              <a:spcAft>
                <a:spcPts val="600"/>
              </a:spcAft>
            </a:pPr>
            <a:r>
              <a:rPr sz="1500" b="0" i="0">
                <a:solidFill>
                  <a:srgbClr val="1F2937"/>
                </a:solidFill>
                <a:latin typeface="Calibri"/>
              </a:rPr>
              <a:t>From a working system back to its design and requirements.</a:t>
            </a:r>
          </a:p>
        </p:txBody>
      </p:sp>
      <p:sp>
        <p:nvSpPr>
          <p:cNvPr id="14" name="Rounded Rectangle 13"/>
          <p:cNvSpPr/>
          <p:nvPr/>
        </p:nvSpPr>
        <p:spPr>
          <a:xfrm>
            <a:off x="548640" y="5440680"/>
            <a:ext cx="11064240" cy="685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0" i="1">
                <a:solidFill>
                  <a:srgbClr val="14213D"/>
                </a:solidFill>
                <a:latin typeface="Calibri"/>
              </a:rPr>
              <a:t>Both directions connect the same three levels — they simply travel in opposite directions.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Levels of Abstraction</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6 / 20</a:t>
            </a:r>
          </a:p>
        </p:txBody>
      </p:sp>
      <p:sp>
        <p:nvSpPr>
          <p:cNvPr id="5" name="Rectangle 4"/>
          <p:cNvSpPr/>
          <p:nvPr/>
        </p:nvSpPr>
        <p:spPr>
          <a:xfrm>
            <a:off x="2514600" y="1463040"/>
            <a:ext cx="1828800" cy="640080"/>
          </a:xfrm>
          <a:prstGeom prst="rect">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i="0">
                <a:solidFill>
                  <a:srgbClr val="14213D"/>
                </a:solidFill>
                <a:latin typeface="Calibri"/>
              </a:rPr>
              <a:t>Requirements</a:t>
            </a:r>
          </a:p>
        </p:txBody>
      </p:sp>
      <p:sp>
        <p:nvSpPr>
          <p:cNvPr id="6" name="TextBox 5"/>
          <p:cNvSpPr txBox="1"/>
          <p:nvPr/>
        </p:nvSpPr>
        <p:spPr>
          <a:xfrm>
            <a:off x="6720840" y="1463040"/>
            <a:ext cx="4937760" cy="640080"/>
          </a:xfrm>
          <a:prstGeom prst="rect">
            <a:avLst/>
          </a:prstGeom>
          <a:noFill/>
        </p:spPr>
        <p:txBody>
          <a:bodyPr wrap="square" anchor="ctr" lIns="0" rIns="0" tIns="0" bIns="0">
            <a:spAutoFit/>
          </a:bodyPr>
          <a:lstStyle/>
          <a:p>
            <a:pPr algn="l">
              <a:spcAft>
                <a:spcPts val="600"/>
              </a:spcAft>
            </a:pPr>
            <a:r>
              <a:rPr sz="1500" b="0" i="0">
                <a:solidFill>
                  <a:srgbClr val="1F2937"/>
                </a:solidFill>
                <a:latin typeface="Calibri"/>
              </a:rPr>
              <a:t>Purpose and functional goals of the system</a:t>
            </a:r>
          </a:p>
        </p:txBody>
      </p:sp>
      <p:sp>
        <p:nvSpPr>
          <p:cNvPr id="7" name="Rectangle 6"/>
          <p:cNvSpPr/>
          <p:nvPr/>
        </p:nvSpPr>
        <p:spPr>
          <a:xfrm>
            <a:off x="2185416" y="2240280"/>
            <a:ext cx="2487168" cy="640080"/>
          </a:xfrm>
          <a:prstGeom prst="rect">
            <a:avLst/>
          </a:prstGeom>
          <a:solidFill>
            <a:srgbClr val="E89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i="0">
                <a:solidFill>
                  <a:srgbClr val="14213D"/>
                </a:solidFill>
                <a:latin typeface="Calibri"/>
              </a:rPr>
              <a:t>Architecture</a:t>
            </a:r>
          </a:p>
        </p:txBody>
      </p:sp>
      <p:sp>
        <p:nvSpPr>
          <p:cNvPr id="8" name="TextBox 7"/>
          <p:cNvSpPr txBox="1"/>
          <p:nvPr/>
        </p:nvSpPr>
        <p:spPr>
          <a:xfrm>
            <a:off x="6720840" y="2240280"/>
            <a:ext cx="4937760" cy="640080"/>
          </a:xfrm>
          <a:prstGeom prst="rect">
            <a:avLst/>
          </a:prstGeom>
          <a:noFill/>
        </p:spPr>
        <p:txBody>
          <a:bodyPr wrap="square" anchor="ctr" lIns="0" rIns="0" tIns="0" bIns="0">
            <a:spAutoFit/>
          </a:bodyPr>
          <a:lstStyle/>
          <a:p>
            <a:pPr algn="l">
              <a:spcAft>
                <a:spcPts val="600"/>
              </a:spcAft>
            </a:pPr>
            <a:r>
              <a:rPr sz="1500" b="0" i="0">
                <a:solidFill>
                  <a:srgbClr val="1F2937"/>
                </a:solidFill>
                <a:latin typeface="Calibri"/>
              </a:rPr>
              <a:t>Components, modules and their interactions</a:t>
            </a:r>
          </a:p>
        </p:txBody>
      </p:sp>
      <p:sp>
        <p:nvSpPr>
          <p:cNvPr id="9" name="Rectangle 8"/>
          <p:cNvSpPr/>
          <p:nvPr/>
        </p:nvSpPr>
        <p:spPr>
          <a:xfrm>
            <a:off x="1856232" y="3017520"/>
            <a:ext cx="3145536" cy="6400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i="0">
                <a:solidFill>
                  <a:srgbClr val="FFFFFF"/>
                </a:solidFill>
                <a:latin typeface="Calibri"/>
              </a:rPr>
              <a:t>Design</a:t>
            </a:r>
          </a:p>
        </p:txBody>
      </p:sp>
      <p:sp>
        <p:nvSpPr>
          <p:cNvPr id="10" name="TextBox 9"/>
          <p:cNvSpPr txBox="1"/>
          <p:nvPr/>
        </p:nvSpPr>
        <p:spPr>
          <a:xfrm>
            <a:off x="6720840" y="3017520"/>
            <a:ext cx="4937760" cy="640080"/>
          </a:xfrm>
          <a:prstGeom prst="rect">
            <a:avLst/>
          </a:prstGeom>
          <a:noFill/>
        </p:spPr>
        <p:txBody>
          <a:bodyPr wrap="square" anchor="ctr" lIns="0" rIns="0" tIns="0" bIns="0">
            <a:spAutoFit/>
          </a:bodyPr>
          <a:lstStyle/>
          <a:p>
            <a:pPr algn="l">
              <a:spcAft>
                <a:spcPts val="600"/>
              </a:spcAft>
            </a:pPr>
            <a:r>
              <a:rPr sz="1500" b="0" i="0">
                <a:solidFill>
                  <a:srgbClr val="1F2937"/>
                </a:solidFill>
                <a:latin typeface="Calibri"/>
              </a:rPr>
              <a:t>Algorithms, data structures and interfaces</a:t>
            </a:r>
          </a:p>
        </p:txBody>
      </p:sp>
      <p:sp>
        <p:nvSpPr>
          <p:cNvPr id="11" name="Rectangle 10"/>
          <p:cNvSpPr/>
          <p:nvPr/>
        </p:nvSpPr>
        <p:spPr>
          <a:xfrm>
            <a:off x="1527048" y="3794760"/>
            <a:ext cx="3803904" cy="640080"/>
          </a:xfrm>
          <a:prstGeom prst="rect">
            <a:avLst/>
          </a:prstGeom>
          <a:solidFill>
            <a:srgbClr val="2F6F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i="0">
                <a:solidFill>
                  <a:srgbClr val="FFFFFF"/>
                </a:solidFill>
                <a:latin typeface="Calibri"/>
              </a:rPr>
              <a:t>Source code</a:t>
            </a:r>
          </a:p>
        </p:txBody>
      </p:sp>
      <p:sp>
        <p:nvSpPr>
          <p:cNvPr id="12" name="TextBox 11"/>
          <p:cNvSpPr txBox="1"/>
          <p:nvPr/>
        </p:nvSpPr>
        <p:spPr>
          <a:xfrm>
            <a:off x="6720840" y="3794760"/>
            <a:ext cx="4937760" cy="640080"/>
          </a:xfrm>
          <a:prstGeom prst="rect">
            <a:avLst/>
          </a:prstGeom>
          <a:noFill/>
        </p:spPr>
        <p:txBody>
          <a:bodyPr wrap="square" anchor="ctr" lIns="0" rIns="0" tIns="0" bIns="0">
            <a:spAutoFit/>
          </a:bodyPr>
          <a:lstStyle/>
          <a:p>
            <a:pPr algn="l">
              <a:spcAft>
                <a:spcPts val="600"/>
              </a:spcAft>
            </a:pPr>
            <a:r>
              <a:rPr sz="1500" b="0" i="0">
                <a:solidFill>
                  <a:srgbClr val="1F2937"/>
                </a:solidFill>
                <a:latin typeface="Calibri"/>
              </a:rPr>
              <a:t>High-level logic, recovered by decompilation</a:t>
            </a:r>
          </a:p>
        </p:txBody>
      </p:sp>
      <p:sp>
        <p:nvSpPr>
          <p:cNvPr id="13" name="Rectangle 12"/>
          <p:cNvSpPr/>
          <p:nvPr/>
        </p:nvSpPr>
        <p:spPr>
          <a:xfrm>
            <a:off x="1197864" y="4572000"/>
            <a:ext cx="4462272" cy="640080"/>
          </a:xfrm>
          <a:prstGeom prst="rect">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i="0">
                <a:solidFill>
                  <a:srgbClr val="FFFFFF"/>
                </a:solidFill>
                <a:latin typeface="Calibri"/>
              </a:rPr>
              <a:t>Assembly</a:t>
            </a:r>
          </a:p>
        </p:txBody>
      </p:sp>
      <p:sp>
        <p:nvSpPr>
          <p:cNvPr id="14" name="TextBox 13"/>
          <p:cNvSpPr txBox="1"/>
          <p:nvPr/>
        </p:nvSpPr>
        <p:spPr>
          <a:xfrm>
            <a:off x="6720840" y="4572000"/>
            <a:ext cx="4937760" cy="640080"/>
          </a:xfrm>
          <a:prstGeom prst="rect">
            <a:avLst/>
          </a:prstGeom>
          <a:noFill/>
        </p:spPr>
        <p:txBody>
          <a:bodyPr wrap="square" anchor="ctr" lIns="0" rIns="0" tIns="0" bIns="0">
            <a:spAutoFit/>
          </a:bodyPr>
          <a:lstStyle/>
          <a:p>
            <a:pPr algn="l">
              <a:spcAft>
                <a:spcPts val="600"/>
              </a:spcAft>
            </a:pPr>
            <a:r>
              <a:rPr sz="1500" b="0" i="0">
                <a:solidFill>
                  <a:srgbClr val="1F2937"/>
                </a:solidFill>
                <a:latin typeface="Calibri"/>
              </a:rPr>
              <a:t>Human-readable processor instructions</a:t>
            </a:r>
          </a:p>
        </p:txBody>
      </p:sp>
      <p:sp>
        <p:nvSpPr>
          <p:cNvPr id="15" name="Rectangle 14"/>
          <p:cNvSpPr/>
          <p:nvPr/>
        </p:nvSpPr>
        <p:spPr>
          <a:xfrm>
            <a:off x="868680" y="5349240"/>
            <a:ext cx="5120640" cy="6400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i="0">
                <a:solidFill>
                  <a:srgbClr val="FFFFFF"/>
                </a:solidFill>
                <a:latin typeface="Calibri"/>
              </a:rPr>
              <a:t>Machine code</a:t>
            </a:r>
          </a:p>
        </p:txBody>
      </p:sp>
      <p:sp>
        <p:nvSpPr>
          <p:cNvPr id="16" name="TextBox 15"/>
          <p:cNvSpPr txBox="1"/>
          <p:nvPr/>
        </p:nvSpPr>
        <p:spPr>
          <a:xfrm>
            <a:off x="6720840" y="5349240"/>
            <a:ext cx="4937760" cy="640080"/>
          </a:xfrm>
          <a:prstGeom prst="rect">
            <a:avLst/>
          </a:prstGeom>
          <a:noFill/>
        </p:spPr>
        <p:txBody>
          <a:bodyPr wrap="square" anchor="ctr" lIns="0" rIns="0" tIns="0" bIns="0">
            <a:spAutoFit/>
          </a:bodyPr>
          <a:lstStyle/>
          <a:p>
            <a:pPr algn="l">
              <a:spcAft>
                <a:spcPts val="600"/>
              </a:spcAft>
            </a:pPr>
            <a:r>
              <a:rPr sz="1500" b="0" i="0">
                <a:solidFill>
                  <a:srgbClr val="1F2937"/>
                </a:solidFill>
                <a:latin typeface="Calibri"/>
              </a:rPr>
              <a:t>Raw binary executed by the CPU</a:t>
            </a:r>
          </a:p>
        </p:txBody>
      </p:sp>
      <p:cxnSp>
        <p:nvCxnSpPr>
          <p:cNvPr id="17" name="Connector 16"/>
          <p:cNvCxnSpPr/>
          <p:nvPr/>
        </p:nvCxnSpPr>
        <p:spPr>
          <a:xfrm flipV="1">
            <a:off x="6355080" y="1508760"/>
            <a:ext cx="0" cy="452628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1600200"/>
            <a:ext cx="1828800" cy="365760"/>
          </a:xfrm>
          <a:prstGeom prst="rect">
            <a:avLst/>
          </a:prstGeom>
          <a:noFill/>
        </p:spPr>
        <p:txBody>
          <a:bodyPr wrap="square" anchor="t" lIns="0" rIns="0" tIns="0" bIns="0">
            <a:spAutoFit/>
          </a:bodyPr>
          <a:lstStyle/>
          <a:p>
            <a:pPr algn="l">
              <a:spcAft>
                <a:spcPts val="600"/>
              </a:spcAft>
            </a:pPr>
            <a:r>
              <a:rPr sz="1200" b="0" i="1">
                <a:solidFill>
                  <a:srgbClr val="6B7280"/>
                </a:solidFill>
                <a:latin typeface="Calibri"/>
              </a:rPr>
              <a:t>↑ Higher abstraction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1371600"/>
            <a:ext cx="3657600" cy="1463040"/>
          </a:xfrm>
          <a:prstGeom prst="rect">
            <a:avLst/>
          </a:prstGeom>
          <a:noFill/>
        </p:spPr>
        <p:txBody>
          <a:bodyPr wrap="square" anchor="t" lIns="0" rIns="0" tIns="0" bIns="0">
            <a:spAutoFit/>
          </a:bodyPr>
          <a:lstStyle/>
          <a:p>
            <a:pPr algn="l">
              <a:spcAft>
                <a:spcPts val="600"/>
              </a:spcAft>
            </a:pPr>
            <a:r>
              <a:rPr sz="9600" b="1" i="0">
                <a:solidFill>
                  <a:srgbClr val="FCA311"/>
                </a:solidFill>
                <a:latin typeface="Cambria"/>
              </a:rPr>
              <a:t>01</a:t>
            </a:r>
          </a:p>
        </p:txBody>
      </p:sp>
      <p:sp>
        <p:nvSpPr>
          <p:cNvPr id="3" name="TextBox 2"/>
          <p:cNvSpPr txBox="1"/>
          <p:nvPr/>
        </p:nvSpPr>
        <p:spPr>
          <a:xfrm>
            <a:off x="731520" y="2926080"/>
            <a:ext cx="6035040" cy="1371600"/>
          </a:xfrm>
          <a:prstGeom prst="rect">
            <a:avLst/>
          </a:prstGeom>
          <a:noFill/>
        </p:spPr>
        <p:txBody>
          <a:bodyPr wrap="square" anchor="t" lIns="0" rIns="0" tIns="0" bIns="0">
            <a:spAutoFit/>
          </a:bodyPr>
          <a:lstStyle/>
          <a:p>
            <a:pPr algn="l">
              <a:spcAft>
                <a:spcPts val="600"/>
              </a:spcAft>
            </a:pPr>
            <a:r>
              <a:rPr sz="4000" b="1" i="0">
                <a:solidFill>
                  <a:srgbClr val="FFFFFF"/>
                </a:solidFill>
                <a:latin typeface="Cambria"/>
              </a:rPr>
              <a:t>The Reverse Engineering Process</a:t>
            </a:r>
          </a:p>
        </p:txBody>
      </p:sp>
      <p:sp>
        <p:nvSpPr>
          <p:cNvPr id="4" name="TextBox 3"/>
          <p:cNvSpPr txBox="1"/>
          <p:nvPr/>
        </p:nvSpPr>
        <p:spPr>
          <a:xfrm>
            <a:off x="731520" y="4343400"/>
            <a:ext cx="5852160" cy="914400"/>
          </a:xfrm>
          <a:prstGeom prst="rect">
            <a:avLst/>
          </a:prstGeom>
          <a:noFill/>
        </p:spPr>
        <p:txBody>
          <a:bodyPr wrap="square" anchor="t" lIns="0" rIns="0" tIns="0" bIns="0">
            <a:spAutoFit/>
          </a:bodyPr>
          <a:lstStyle/>
          <a:p>
            <a:pPr algn="l">
              <a:spcAft>
                <a:spcPts val="600"/>
              </a:spcAft>
            </a:pPr>
            <a:r>
              <a:rPr sz="1800" b="0" i="0">
                <a:solidFill>
                  <a:srgbClr val="C9D3E3"/>
                </a:solidFill>
                <a:latin typeface="Calibri"/>
              </a:rPr>
              <a:t>A repeatable, six-stage method for analysing any system</a:t>
            </a:r>
          </a:p>
        </p:txBody>
      </p:sp>
      <p:sp>
        <p:nvSpPr>
          <p:cNvPr id="5" name="Oval 4"/>
          <p:cNvSpPr/>
          <p:nvPr/>
        </p:nvSpPr>
        <p:spPr>
          <a:xfrm>
            <a:off x="7680960" y="141732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1</a:t>
            </a:r>
          </a:p>
        </p:txBody>
      </p:sp>
      <p:sp>
        <p:nvSpPr>
          <p:cNvPr id="6" name="TextBox 5"/>
          <p:cNvSpPr txBox="1"/>
          <p:nvPr/>
        </p:nvSpPr>
        <p:spPr>
          <a:xfrm>
            <a:off x="8412480" y="141732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Scope &amp; collect</a:t>
            </a:r>
          </a:p>
        </p:txBody>
      </p:sp>
      <p:sp>
        <p:nvSpPr>
          <p:cNvPr id="7" name="Oval 6"/>
          <p:cNvSpPr/>
          <p:nvPr/>
        </p:nvSpPr>
        <p:spPr>
          <a:xfrm>
            <a:off x="7680960" y="208788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2</a:t>
            </a:r>
          </a:p>
        </p:txBody>
      </p:sp>
      <p:sp>
        <p:nvSpPr>
          <p:cNvPr id="8" name="TextBox 7"/>
          <p:cNvSpPr txBox="1"/>
          <p:nvPr/>
        </p:nvSpPr>
        <p:spPr>
          <a:xfrm>
            <a:off x="8412480" y="208788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Static analysis</a:t>
            </a:r>
          </a:p>
        </p:txBody>
      </p:sp>
      <p:sp>
        <p:nvSpPr>
          <p:cNvPr id="9" name="Oval 8"/>
          <p:cNvSpPr/>
          <p:nvPr/>
        </p:nvSpPr>
        <p:spPr>
          <a:xfrm>
            <a:off x="7680960" y="275844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3</a:t>
            </a:r>
          </a:p>
        </p:txBody>
      </p:sp>
      <p:sp>
        <p:nvSpPr>
          <p:cNvPr id="10" name="TextBox 9"/>
          <p:cNvSpPr txBox="1"/>
          <p:nvPr/>
        </p:nvSpPr>
        <p:spPr>
          <a:xfrm>
            <a:off x="8412480" y="275844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Dynamic analysis</a:t>
            </a:r>
          </a:p>
        </p:txBody>
      </p:sp>
      <p:sp>
        <p:nvSpPr>
          <p:cNvPr id="11" name="Oval 10"/>
          <p:cNvSpPr/>
          <p:nvPr/>
        </p:nvSpPr>
        <p:spPr>
          <a:xfrm>
            <a:off x="7680960" y="342900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4</a:t>
            </a:r>
          </a:p>
        </p:txBody>
      </p:sp>
      <p:sp>
        <p:nvSpPr>
          <p:cNvPr id="12" name="TextBox 11"/>
          <p:cNvSpPr txBox="1"/>
          <p:nvPr/>
        </p:nvSpPr>
        <p:spPr>
          <a:xfrm>
            <a:off x="8412480" y="342900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Reconstruct models</a:t>
            </a:r>
          </a:p>
        </p:txBody>
      </p:sp>
      <p:sp>
        <p:nvSpPr>
          <p:cNvPr id="13" name="Oval 12"/>
          <p:cNvSpPr/>
          <p:nvPr/>
        </p:nvSpPr>
        <p:spPr>
          <a:xfrm>
            <a:off x="7680960" y="409956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5</a:t>
            </a:r>
          </a:p>
        </p:txBody>
      </p:sp>
      <p:sp>
        <p:nvSpPr>
          <p:cNvPr id="14" name="TextBox 13"/>
          <p:cNvSpPr txBox="1"/>
          <p:nvPr/>
        </p:nvSpPr>
        <p:spPr>
          <a:xfrm>
            <a:off x="8412480" y="409956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Verify</a:t>
            </a:r>
          </a:p>
        </p:txBody>
      </p:sp>
      <p:sp>
        <p:nvSpPr>
          <p:cNvPr id="15" name="Oval 14"/>
          <p:cNvSpPr/>
          <p:nvPr/>
        </p:nvSpPr>
        <p:spPr>
          <a:xfrm>
            <a:off x="7680960" y="477012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6</a:t>
            </a:r>
          </a:p>
        </p:txBody>
      </p:sp>
      <p:sp>
        <p:nvSpPr>
          <p:cNvPr id="16" name="TextBox 15"/>
          <p:cNvSpPr txBox="1"/>
          <p:nvPr/>
        </p:nvSpPr>
        <p:spPr>
          <a:xfrm>
            <a:off x="8412480" y="477012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Document &amp; share</a:t>
            </a:r>
          </a:p>
        </p:txBody>
      </p:sp>
      <p:cxnSp>
        <p:nvCxnSpPr>
          <p:cNvPr id="17" name="Connector 16"/>
          <p:cNvCxnSpPr/>
          <p:nvPr/>
        </p:nvCxnSpPr>
        <p:spPr>
          <a:xfrm>
            <a:off x="7932420" y="1965960"/>
            <a:ext cx="0" cy="76200"/>
          </a:xfrm>
          <a:prstGeom prst="line">
            <a:avLst/>
          </a:prstGeom>
          <a:ln w="15875">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932420" y="2636520"/>
            <a:ext cx="0" cy="76200"/>
          </a:xfrm>
          <a:prstGeom prst="line">
            <a:avLst/>
          </a:prstGeom>
          <a:ln w="15875">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932420" y="3307080"/>
            <a:ext cx="0" cy="76200"/>
          </a:xfrm>
          <a:prstGeom prst="line">
            <a:avLst/>
          </a:prstGeom>
          <a:ln w="15875">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932420" y="3977639"/>
            <a:ext cx="0" cy="76201"/>
          </a:xfrm>
          <a:prstGeom prst="line">
            <a:avLst/>
          </a:prstGeom>
          <a:ln w="15875">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932420" y="4648200"/>
            <a:ext cx="0" cy="76200"/>
          </a:xfrm>
          <a:prstGeom prst="line">
            <a:avLst/>
          </a:prstGeom>
          <a:ln w="15875">
            <a:solidFill>
              <a:srgbClr val="FCA31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C9D3E3"/>
                </a:solidFill>
                <a:latin typeface="Calibri"/>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The Six-Stage Process</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8 / 20</a:t>
            </a:r>
          </a:p>
        </p:txBody>
      </p:sp>
      <p:sp>
        <p:nvSpPr>
          <p:cNvPr id="5" name="Oval 4"/>
          <p:cNvSpPr/>
          <p:nvPr/>
        </p:nvSpPr>
        <p:spPr>
          <a:xfrm>
            <a:off x="822960" y="1737360"/>
            <a:ext cx="1097280" cy="10972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400" b="1" i="0">
                <a:solidFill>
                  <a:srgbClr val="FCA311"/>
                </a:solidFill>
                <a:latin typeface="Cambria"/>
              </a:rPr>
              <a:t>01</a:t>
            </a:r>
          </a:p>
        </p:txBody>
      </p:sp>
      <p:sp>
        <p:nvSpPr>
          <p:cNvPr id="6" name="TextBox 5"/>
          <p:cNvSpPr txBox="1"/>
          <p:nvPr/>
        </p:nvSpPr>
        <p:spPr>
          <a:xfrm>
            <a:off x="502920" y="3017520"/>
            <a:ext cx="1737360" cy="411480"/>
          </a:xfrm>
          <a:prstGeom prst="rect">
            <a:avLst/>
          </a:prstGeom>
          <a:noFill/>
        </p:spPr>
        <p:txBody>
          <a:bodyPr wrap="square" anchor="t" lIns="0" rIns="0" tIns="0" bIns="0">
            <a:spAutoFit/>
          </a:bodyPr>
          <a:lstStyle/>
          <a:p>
            <a:pPr algn="ctr">
              <a:spcAft>
                <a:spcPts val="600"/>
              </a:spcAft>
            </a:pPr>
            <a:r>
              <a:rPr sz="1500" b="1" i="0">
                <a:solidFill>
                  <a:srgbClr val="14213D"/>
                </a:solidFill>
                <a:latin typeface="Calibri"/>
              </a:rPr>
              <a:t>Scope &amp; collect</a:t>
            </a:r>
          </a:p>
        </p:txBody>
      </p:sp>
      <p:sp>
        <p:nvSpPr>
          <p:cNvPr id="7" name="TextBox 6"/>
          <p:cNvSpPr txBox="1"/>
          <p:nvPr/>
        </p:nvSpPr>
        <p:spPr>
          <a:xfrm>
            <a:off x="502920" y="3474720"/>
            <a:ext cx="1737360" cy="914400"/>
          </a:xfrm>
          <a:prstGeom prst="rect">
            <a:avLst/>
          </a:prstGeom>
          <a:noFill/>
        </p:spPr>
        <p:txBody>
          <a:bodyPr wrap="square" anchor="t" lIns="0" rIns="0" tIns="0" bIns="0">
            <a:spAutoFit/>
          </a:bodyPr>
          <a:lstStyle/>
          <a:p>
            <a:pPr algn="ctr">
              <a:spcAft>
                <a:spcPts val="600"/>
              </a:spcAft>
            </a:pPr>
            <a:r>
              <a:rPr sz="1200" b="0" i="0">
                <a:solidFill>
                  <a:srgbClr val="1F2937"/>
                </a:solidFill>
                <a:latin typeface="Calibri"/>
              </a:rPr>
              <a:t>Define goals and gather artefacts</a:t>
            </a:r>
          </a:p>
        </p:txBody>
      </p:sp>
      <p:cxnSp>
        <p:nvCxnSpPr>
          <p:cNvPr id="8" name="Connector 7"/>
          <p:cNvCxnSpPr/>
          <p:nvPr/>
        </p:nvCxnSpPr>
        <p:spPr>
          <a:xfrm>
            <a:off x="1965960" y="2286000"/>
            <a:ext cx="64008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651760" y="1737360"/>
            <a:ext cx="1097280" cy="10972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400" b="1" i="0">
                <a:solidFill>
                  <a:srgbClr val="FCA311"/>
                </a:solidFill>
                <a:latin typeface="Cambria"/>
              </a:rPr>
              <a:t>02</a:t>
            </a:r>
          </a:p>
        </p:txBody>
      </p:sp>
      <p:sp>
        <p:nvSpPr>
          <p:cNvPr id="10" name="TextBox 9"/>
          <p:cNvSpPr txBox="1"/>
          <p:nvPr/>
        </p:nvSpPr>
        <p:spPr>
          <a:xfrm>
            <a:off x="2331720" y="3017520"/>
            <a:ext cx="1737360" cy="411480"/>
          </a:xfrm>
          <a:prstGeom prst="rect">
            <a:avLst/>
          </a:prstGeom>
          <a:noFill/>
        </p:spPr>
        <p:txBody>
          <a:bodyPr wrap="square" anchor="t" lIns="0" rIns="0" tIns="0" bIns="0">
            <a:spAutoFit/>
          </a:bodyPr>
          <a:lstStyle/>
          <a:p>
            <a:pPr algn="ctr">
              <a:spcAft>
                <a:spcPts val="600"/>
              </a:spcAft>
            </a:pPr>
            <a:r>
              <a:rPr sz="1500" b="1" i="0">
                <a:solidFill>
                  <a:srgbClr val="14213D"/>
                </a:solidFill>
                <a:latin typeface="Calibri"/>
              </a:rPr>
              <a:t>Static analysis</a:t>
            </a:r>
          </a:p>
        </p:txBody>
      </p:sp>
      <p:sp>
        <p:nvSpPr>
          <p:cNvPr id="11" name="TextBox 10"/>
          <p:cNvSpPr txBox="1"/>
          <p:nvPr/>
        </p:nvSpPr>
        <p:spPr>
          <a:xfrm>
            <a:off x="2331720" y="3474720"/>
            <a:ext cx="1737360" cy="914400"/>
          </a:xfrm>
          <a:prstGeom prst="rect">
            <a:avLst/>
          </a:prstGeom>
          <a:noFill/>
        </p:spPr>
        <p:txBody>
          <a:bodyPr wrap="square" anchor="t" lIns="0" rIns="0" tIns="0" bIns="0">
            <a:spAutoFit/>
          </a:bodyPr>
          <a:lstStyle/>
          <a:p>
            <a:pPr algn="ctr">
              <a:spcAft>
                <a:spcPts val="600"/>
              </a:spcAft>
            </a:pPr>
            <a:r>
              <a:rPr sz="1200" b="0" i="0">
                <a:solidFill>
                  <a:srgbClr val="1F2937"/>
                </a:solidFill>
                <a:latin typeface="Calibri"/>
              </a:rPr>
              <a:t>Examine code without running it</a:t>
            </a:r>
          </a:p>
        </p:txBody>
      </p:sp>
      <p:cxnSp>
        <p:nvCxnSpPr>
          <p:cNvPr id="12" name="Connector 11"/>
          <p:cNvCxnSpPr/>
          <p:nvPr/>
        </p:nvCxnSpPr>
        <p:spPr>
          <a:xfrm>
            <a:off x="3794760" y="2286000"/>
            <a:ext cx="64008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480560" y="1737360"/>
            <a:ext cx="1097280" cy="10972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400" b="1" i="0">
                <a:solidFill>
                  <a:srgbClr val="FCA311"/>
                </a:solidFill>
                <a:latin typeface="Cambria"/>
              </a:rPr>
              <a:t>03</a:t>
            </a:r>
          </a:p>
        </p:txBody>
      </p:sp>
      <p:sp>
        <p:nvSpPr>
          <p:cNvPr id="14" name="TextBox 13"/>
          <p:cNvSpPr txBox="1"/>
          <p:nvPr/>
        </p:nvSpPr>
        <p:spPr>
          <a:xfrm>
            <a:off x="4160520" y="3017520"/>
            <a:ext cx="1737360" cy="411480"/>
          </a:xfrm>
          <a:prstGeom prst="rect">
            <a:avLst/>
          </a:prstGeom>
          <a:noFill/>
        </p:spPr>
        <p:txBody>
          <a:bodyPr wrap="square" anchor="t" lIns="0" rIns="0" tIns="0" bIns="0">
            <a:spAutoFit/>
          </a:bodyPr>
          <a:lstStyle/>
          <a:p>
            <a:pPr algn="ctr">
              <a:spcAft>
                <a:spcPts val="600"/>
              </a:spcAft>
            </a:pPr>
            <a:r>
              <a:rPr sz="1500" b="1" i="0">
                <a:solidFill>
                  <a:srgbClr val="14213D"/>
                </a:solidFill>
                <a:latin typeface="Calibri"/>
              </a:rPr>
              <a:t>Dynamic analysis</a:t>
            </a:r>
          </a:p>
        </p:txBody>
      </p:sp>
      <p:sp>
        <p:nvSpPr>
          <p:cNvPr id="15" name="TextBox 14"/>
          <p:cNvSpPr txBox="1"/>
          <p:nvPr/>
        </p:nvSpPr>
        <p:spPr>
          <a:xfrm>
            <a:off x="4160520" y="3474720"/>
            <a:ext cx="1737360" cy="914400"/>
          </a:xfrm>
          <a:prstGeom prst="rect">
            <a:avLst/>
          </a:prstGeom>
          <a:noFill/>
        </p:spPr>
        <p:txBody>
          <a:bodyPr wrap="square" anchor="t" lIns="0" rIns="0" tIns="0" bIns="0">
            <a:spAutoFit/>
          </a:bodyPr>
          <a:lstStyle/>
          <a:p>
            <a:pPr algn="ctr">
              <a:spcAft>
                <a:spcPts val="600"/>
              </a:spcAft>
            </a:pPr>
            <a:r>
              <a:rPr sz="1200" b="0" i="0">
                <a:solidFill>
                  <a:srgbClr val="1F2937"/>
                </a:solidFill>
                <a:latin typeface="Calibri"/>
              </a:rPr>
              <a:t>Observe the system while it runs</a:t>
            </a:r>
          </a:p>
        </p:txBody>
      </p:sp>
      <p:cxnSp>
        <p:nvCxnSpPr>
          <p:cNvPr id="16" name="Connector 15"/>
          <p:cNvCxnSpPr/>
          <p:nvPr/>
        </p:nvCxnSpPr>
        <p:spPr>
          <a:xfrm>
            <a:off x="5623560" y="2286000"/>
            <a:ext cx="64008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309360" y="1737360"/>
            <a:ext cx="1097280" cy="10972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400" b="1" i="0">
                <a:solidFill>
                  <a:srgbClr val="FCA311"/>
                </a:solidFill>
                <a:latin typeface="Cambria"/>
              </a:rPr>
              <a:t>04</a:t>
            </a:r>
          </a:p>
        </p:txBody>
      </p:sp>
      <p:sp>
        <p:nvSpPr>
          <p:cNvPr id="18" name="TextBox 17"/>
          <p:cNvSpPr txBox="1"/>
          <p:nvPr/>
        </p:nvSpPr>
        <p:spPr>
          <a:xfrm>
            <a:off x="5989320" y="3017520"/>
            <a:ext cx="1737360" cy="411480"/>
          </a:xfrm>
          <a:prstGeom prst="rect">
            <a:avLst/>
          </a:prstGeom>
          <a:noFill/>
        </p:spPr>
        <p:txBody>
          <a:bodyPr wrap="square" anchor="t" lIns="0" rIns="0" tIns="0" bIns="0">
            <a:spAutoFit/>
          </a:bodyPr>
          <a:lstStyle/>
          <a:p>
            <a:pPr algn="ctr">
              <a:spcAft>
                <a:spcPts val="600"/>
              </a:spcAft>
            </a:pPr>
            <a:r>
              <a:rPr sz="1500" b="1" i="0">
                <a:solidFill>
                  <a:srgbClr val="14213D"/>
                </a:solidFill>
                <a:latin typeface="Calibri"/>
              </a:rPr>
              <a:t>Reconstruct</a:t>
            </a:r>
          </a:p>
        </p:txBody>
      </p:sp>
      <p:sp>
        <p:nvSpPr>
          <p:cNvPr id="19" name="TextBox 18"/>
          <p:cNvSpPr txBox="1"/>
          <p:nvPr/>
        </p:nvSpPr>
        <p:spPr>
          <a:xfrm>
            <a:off x="5989320" y="3474720"/>
            <a:ext cx="1737360" cy="914400"/>
          </a:xfrm>
          <a:prstGeom prst="rect">
            <a:avLst/>
          </a:prstGeom>
          <a:noFill/>
        </p:spPr>
        <p:txBody>
          <a:bodyPr wrap="square" anchor="t" lIns="0" rIns="0" tIns="0" bIns="0">
            <a:spAutoFit/>
          </a:bodyPr>
          <a:lstStyle/>
          <a:p>
            <a:pPr algn="ctr">
              <a:spcAft>
                <a:spcPts val="600"/>
              </a:spcAft>
            </a:pPr>
            <a:r>
              <a:rPr sz="1200" b="0" i="0">
                <a:solidFill>
                  <a:srgbClr val="1F2937"/>
                </a:solidFill>
                <a:latin typeface="Calibri"/>
              </a:rPr>
              <a:t>Build models of structure and behaviour</a:t>
            </a:r>
          </a:p>
        </p:txBody>
      </p:sp>
      <p:cxnSp>
        <p:nvCxnSpPr>
          <p:cNvPr id="20" name="Connector 19"/>
          <p:cNvCxnSpPr/>
          <p:nvPr/>
        </p:nvCxnSpPr>
        <p:spPr>
          <a:xfrm>
            <a:off x="7452360" y="2286000"/>
            <a:ext cx="64008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138160" y="1737360"/>
            <a:ext cx="1097280" cy="10972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400" b="1" i="0">
                <a:solidFill>
                  <a:srgbClr val="FCA311"/>
                </a:solidFill>
                <a:latin typeface="Cambria"/>
              </a:rPr>
              <a:t>05</a:t>
            </a:r>
          </a:p>
        </p:txBody>
      </p:sp>
      <p:sp>
        <p:nvSpPr>
          <p:cNvPr id="22" name="TextBox 21"/>
          <p:cNvSpPr txBox="1"/>
          <p:nvPr/>
        </p:nvSpPr>
        <p:spPr>
          <a:xfrm>
            <a:off x="7818120" y="3017520"/>
            <a:ext cx="1737360" cy="411480"/>
          </a:xfrm>
          <a:prstGeom prst="rect">
            <a:avLst/>
          </a:prstGeom>
          <a:noFill/>
        </p:spPr>
        <p:txBody>
          <a:bodyPr wrap="square" anchor="t" lIns="0" rIns="0" tIns="0" bIns="0">
            <a:spAutoFit/>
          </a:bodyPr>
          <a:lstStyle/>
          <a:p>
            <a:pPr algn="ctr">
              <a:spcAft>
                <a:spcPts val="600"/>
              </a:spcAft>
            </a:pPr>
            <a:r>
              <a:rPr sz="1500" b="1" i="0">
                <a:solidFill>
                  <a:srgbClr val="14213D"/>
                </a:solidFill>
                <a:latin typeface="Calibri"/>
              </a:rPr>
              <a:t>Verify</a:t>
            </a:r>
          </a:p>
        </p:txBody>
      </p:sp>
      <p:sp>
        <p:nvSpPr>
          <p:cNvPr id="23" name="TextBox 22"/>
          <p:cNvSpPr txBox="1"/>
          <p:nvPr/>
        </p:nvSpPr>
        <p:spPr>
          <a:xfrm>
            <a:off x="7818120" y="3474720"/>
            <a:ext cx="1737360" cy="914400"/>
          </a:xfrm>
          <a:prstGeom prst="rect">
            <a:avLst/>
          </a:prstGeom>
          <a:noFill/>
        </p:spPr>
        <p:txBody>
          <a:bodyPr wrap="square" anchor="t" lIns="0" rIns="0" tIns="0" bIns="0">
            <a:spAutoFit/>
          </a:bodyPr>
          <a:lstStyle/>
          <a:p>
            <a:pPr algn="ctr">
              <a:spcAft>
                <a:spcPts val="600"/>
              </a:spcAft>
            </a:pPr>
            <a:r>
              <a:rPr sz="1200" b="0" i="0">
                <a:solidFill>
                  <a:srgbClr val="1F2937"/>
                </a:solidFill>
                <a:latin typeface="Calibri"/>
              </a:rPr>
              <a:t>Test that the models are correct</a:t>
            </a:r>
          </a:p>
        </p:txBody>
      </p:sp>
      <p:cxnSp>
        <p:nvCxnSpPr>
          <p:cNvPr id="24" name="Connector 23"/>
          <p:cNvCxnSpPr/>
          <p:nvPr/>
        </p:nvCxnSpPr>
        <p:spPr>
          <a:xfrm>
            <a:off x="9281160" y="2286000"/>
            <a:ext cx="64008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966960" y="1737360"/>
            <a:ext cx="1097280" cy="109728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400" b="1" i="0">
                <a:solidFill>
                  <a:srgbClr val="14213D"/>
                </a:solidFill>
                <a:latin typeface="Cambria"/>
              </a:rPr>
              <a:t>06</a:t>
            </a:r>
          </a:p>
        </p:txBody>
      </p:sp>
      <p:sp>
        <p:nvSpPr>
          <p:cNvPr id="26" name="TextBox 25"/>
          <p:cNvSpPr txBox="1"/>
          <p:nvPr/>
        </p:nvSpPr>
        <p:spPr>
          <a:xfrm>
            <a:off x="9646920" y="3017520"/>
            <a:ext cx="1737360" cy="411480"/>
          </a:xfrm>
          <a:prstGeom prst="rect">
            <a:avLst/>
          </a:prstGeom>
          <a:noFill/>
        </p:spPr>
        <p:txBody>
          <a:bodyPr wrap="square" anchor="t" lIns="0" rIns="0" tIns="0" bIns="0">
            <a:spAutoFit/>
          </a:bodyPr>
          <a:lstStyle/>
          <a:p>
            <a:pPr algn="ctr">
              <a:spcAft>
                <a:spcPts val="600"/>
              </a:spcAft>
            </a:pPr>
            <a:r>
              <a:rPr sz="1500" b="1" i="0">
                <a:solidFill>
                  <a:srgbClr val="14213D"/>
                </a:solidFill>
                <a:latin typeface="Calibri"/>
              </a:rPr>
              <a:t>Document</a:t>
            </a:r>
          </a:p>
        </p:txBody>
      </p:sp>
      <p:sp>
        <p:nvSpPr>
          <p:cNvPr id="27" name="TextBox 26"/>
          <p:cNvSpPr txBox="1"/>
          <p:nvPr/>
        </p:nvSpPr>
        <p:spPr>
          <a:xfrm>
            <a:off x="9646920" y="3474720"/>
            <a:ext cx="1737360" cy="914400"/>
          </a:xfrm>
          <a:prstGeom prst="rect">
            <a:avLst/>
          </a:prstGeom>
          <a:noFill/>
        </p:spPr>
        <p:txBody>
          <a:bodyPr wrap="square" anchor="t" lIns="0" rIns="0" tIns="0" bIns="0">
            <a:spAutoFit/>
          </a:bodyPr>
          <a:lstStyle/>
          <a:p>
            <a:pPr algn="ctr">
              <a:spcAft>
                <a:spcPts val="600"/>
              </a:spcAft>
            </a:pPr>
            <a:r>
              <a:rPr sz="1200" b="0" i="0">
                <a:solidFill>
                  <a:srgbClr val="1F2937"/>
                </a:solidFill>
                <a:latin typeface="Calibri"/>
              </a:rPr>
              <a:t>Record and share the findings</a:t>
            </a:r>
          </a:p>
        </p:txBody>
      </p:sp>
      <p:cxnSp>
        <p:nvCxnSpPr>
          <p:cNvPr id="28" name="Connector 27"/>
          <p:cNvCxnSpPr/>
          <p:nvPr/>
        </p:nvCxnSpPr>
        <p:spPr>
          <a:xfrm>
            <a:off x="10515600" y="4526280"/>
            <a:ext cx="0" cy="548640"/>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371600" y="5074920"/>
            <a:ext cx="9144000" cy="0"/>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371600" y="4526280"/>
            <a:ext cx="0" cy="548640"/>
          </a:xfrm>
          <a:prstGeom prst="line">
            <a:avLst/>
          </a:prstGeom>
          <a:ln w="2540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286000" y="5212080"/>
            <a:ext cx="7589520" cy="457200"/>
          </a:xfrm>
          <a:prstGeom prst="rect">
            <a:avLst/>
          </a:prstGeom>
          <a:noFill/>
        </p:spPr>
        <p:txBody>
          <a:bodyPr wrap="square" anchor="t" lIns="0" rIns="0" tIns="0" bIns="0">
            <a:spAutoFit/>
          </a:bodyPr>
          <a:lstStyle/>
          <a:p>
            <a:pPr algn="ctr">
              <a:spcAft>
                <a:spcPts val="600"/>
              </a:spcAft>
            </a:pPr>
            <a:r>
              <a:rPr sz="1400" b="0" i="1">
                <a:solidFill>
                  <a:srgbClr val="2A9D8F"/>
                </a:solidFill>
                <a:latin typeface="Calibri"/>
              </a:rPr>
              <a:t>Iterate — each new finding can trigger another round of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Stage 1: Scope and Collect</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9 / 20</a:t>
            </a:r>
          </a:p>
        </p:txBody>
      </p:sp>
      <p:sp>
        <p:nvSpPr>
          <p:cNvPr id="5" name="TextBox 4"/>
          <p:cNvSpPr txBox="1"/>
          <p:nvPr/>
        </p:nvSpPr>
        <p:spPr>
          <a:xfrm>
            <a:off x="548640" y="1463040"/>
            <a:ext cx="5120640" cy="457200"/>
          </a:xfrm>
          <a:prstGeom prst="rect">
            <a:avLst/>
          </a:prstGeom>
          <a:noFill/>
        </p:spPr>
        <p:txBody>
          <a:bodyPr wrap="square" anchor="t" lIns="0" rIns="0" tIns="0" bIns="0">
            <a:spAutoFit/>
          </a:bodyPr>
          <a:lstStyle/>
          <a:p>
            <a:pPr algn="l">
              <a:spcAft>
                <a:spcPts val="600"/>
              </a:spcAft>
            </a:pPr>
            <a:r>
              <a:rPr sz="2000" b="1" i="0">
                <a:solidFill>
                  <a:srgbClr val="14213D"/>
                </a:solidFill>
                <a:latin typeface="Calibri"/>
              </a:rPr>
              <a:t>Key scoping activities</a:t>
            </a:r>
          </a:p>
        </p:txBody>
      </p:sp>
      <p:sp>
        <p:nvSpPr>
          <p:cNvPr id="6" name="TextBox 5"/>
          <p:cNvSpPr txBox="1"/>
          <p:nvPr/>
        </p:nvSpPr>
        <p:spPr>
          <a:xfrm>
            <a:off x="548640" y="2011680"/>
            <a:ext cx="5120640" cy="4023360"/>
          </a:xfrm>
          <a:prstGeom prst="rect">
            <a:avLst/>
          </a:prstGeom>
          <a:noFill/>
        </p:spPr>
        <p:txBody>
          <a:bodyPr wrap="square" anchor="t" lIns="0" rIns="0" tIns="0" bIns="0">
            <a:spAutoFit/>
          </a:bodyPr>
          <a:lstStyle/>
          <a:p>
            <a:pPr algn="l" marL="256032" indent="-256032">
              <a:spcAft>
                <a:spcPts val="1200"/>
              </a:spcAft>
              <a:buClr>
                <a:srgbClr val="FCA311"/>
              </a:buClr>
              <a:buFont typeface="Arial"/>
              <a:buChar char="•"/>
            </a:pPr>
            <a:r>
              <a:rPr sz="1600" b="0" i="0">
                <a:solidFill>
                  <a:srgbClr val="1F2937"/>
                </a:solidFill>
                <a:latin typeface="Calibri"/>
              </a:rPr>
              <a:t>Define the goal: interoperability, audit or recovery</a:t>
            </a:r>
          </a:p>
          <a:p>
            <a:pPr algn="l" marL="256032" indent="-256032">
              <a:spcAft>
                <a:spcPts val="1200"/>
              </a:spcAft>
              <a:buClr>
                <a:srgbClr val="FCA311"/>
              </a:buClr>
              <a:buFont typeface="Arial"/>
              <a:buChar char="•"/>
            </a:pPr>
            <a:r>
              <a:rPr sz="1600" b="0" i="0">
                <a:solidFill>
                  <a:srgbClr val="1F2937"/>
                </a:solidFill>
                <a:latin typeface="Calibri"/>
              </a:rPr>
              <a:t>Confirm authorisation and legal boundaries</a:t>
            </a:r>
          </a:p>
          <a:p>
            <a:pPr algn="l" marL="256032" indent="-256032">
              <a:spcAft>
                <a:spcPts val="1200"/>
              </a:spcAft>
              <a:buClr>
                <a:srgbClr val="FCA311"/>
              </a:buClr>
              <a:buFont typeface="Arial"/>
              <a:buChar char="•"/>
            </a:pPr>
            <a:r>
              <a:rPr sz="1600" b="0" i="0">
                <a:solidFill>
                  <a:srgbClr val="1F2937"/>
                </a:solidFill>
                <a:latin typeface="Calibri"/>
              </a:rPr>
              <a:t>Identify platform, CPU architecture and file formats</a:t>
            </a:r>
          </a:p>
          <a:p>
            <a:pPr algn="l" marL="256032" indent="-256032">
              <a:spcAft>
                <a:spcPts val="1200"/>
              </a:spcAft>
              <a:buClr>
                <a:srgbClr val="FCA311"/>
              </a:buClr>
              <a:buFont typeface="Arial"/>
              <a:buChar char="•"/>
            </a:pPr>
            <a:r>
              <a:rPr sz="1600" b="0" i="0">
                <a:solidFill>
                  <a:srgbClr val="1F2937"/>
                </a:solidFill>
                <a:latin typeface="Calibri"/>
              </a:rPr>
              <a:t>Collect every available artefact</a:t>
            </a:r>
          </a:p>
          <a:p>
            <a:pPr algn="l" marL="256032" indent="-256032">
              <a:spcAft>
                <a:spcPts val="1200"/>
              </a:spcAft>
              <a:buClr>
                <a:srgbClr val="FCA311"/>
              </a:buClr>
              <a:buFont typeface="Arial"/>
              <a:buChar char="•"/>
            </a:pPr>
            <a:r>
              <a:rPr sz="1600" b="0" i="0">
                <a:solidFill>
                  <a:srgbClr val="1F2937"/>
                </a:solidFill>
                <a:latin typeface="Calibri"/>
              </a:rPr>
              <a:t>Prepare an isolated analysis environment</a:t>
            </a:r>
          </a:p>
        </p:txBody>
      </p:sp>
      <p:cxnSp>
        <p:nvCxnSpPr>
          <p:cNvPr id="7" name="Connector 6"/>
          <p:cNvCxnSpPr/>
          <p:nvPr/>
        </p:nvCxnSpPr>
        <p:spPr>
          <a:xfrm flipV="1">
            <a:off x="8595360" y="1737360"/>
            <a:ext cx="0" cy="2011679"/>
          </a:xfrm>
          <a:prstGeom prst="line">
            <a:avLst/>
          </a:prstGeom>
          <a:ln w="254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6400800" y="3108960"/>
            <a:ext cx="2194560" cy="640079"/>
          </a:xfrm>
          <a:prstGeom prst="line">
            <a:avLst/>
          </a:prstGeom>
          <a:ln w="254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8595360" y="3108960"/>
            <a:ext cx="2148840" cy="640079"/>
          </a:xfrm>
          <a:prstGeom prst="line">
            <a:avLst/>
          </a:prstGeom>
          <a:ln w="254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498079" y="3749039"/>
            <a:ext cx="1097281" cy="1691641"/>
          </a:xfrm>
          <a:prstGeom prst="line">
            <a:avLst/>
          </a:prstGeom>
          <a:ln w="254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595360" y="3749039"/>
            <a:ext cx="1097280" cy="1691641"/>
          </a:xfrm>
          <a:prstGeom prst="line">
            <a:avLst/>
          </a:prstGeom>
          <a:ln w="25400">
            <a:solidFill>
              <a:srgbClr val="C9D3E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680960" y="2834639"/>
            <a:ext cx="1828800" cy="18288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FFFFFF"/>
                </a:solidFill>
                <a:latin typeface="Cambria"/>
              </a:rPr>
              <a:t>Target system</a:t>
            </a:r>
          </a:p>
        </p:txBody>
      </p:sp>
      <p:sp>
        <p:nvSpPr>
          <p:cNvPr id="13" name="Rounded Rectangle 12"/>
          <p:cNvSpPr/>
          <p:nvPr/>
        </p:nvSpPr>
        <p:spPr>
          <a:xfrm>
            <a:off x="7772400" y="1463039"/>
            <a:ext cx="1645920" cy="548640"/>
          </a:xfrm>
          <a:prstGeom prst="roundRect">
            <a:avLst>
              <a:gd name="adj" fmla="val 8000"/>
            </a:avLst>
          </a:prstGeom>
          <a:solidFill>
            <a:srgbClr val="FFF4E0"/>
          </a:solidFill>
          <a:ln w="1587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4213D"/>
                </a:solidFill>
                <a:latin typeface="Calibri"/>
              </a:rPr>
              <a:t>Binaries</a:t>
            </a:r>
          </a:p>
        </p:txBody>
      </p:sp>
      <p:sp>
        <p:nvSpPr>
          <p:cNvPr id="14" name="Rounded Rectangle 13"/>
          <p:cNvSpPr/>
          <p:nvPr/>
        </p:nvSpPr>
        <p:spPr>
          <a:xfrm>
            <a:off x="5577840" y="2834640"/>
            <a:ext cx="1645920" cy="548640"/>
          </a:xfrm>
          <a:prstGeom prst="roundRect">
            <a:avLst>
              <a:gd name="adj" fmla="val 8000"/>
            </a:avLst>
          </a:prstGeom>
          <a:solidFill>
            <a:srgbClr val="FFF4E0"/>
          </a:solidFill>
          <a:ln w="1587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4213D"/>
                </a:solidFill>
                <a:latin typeface="Calibri"/>
              </a:rPr>
              <a:t>Documentation</a:t>
            </a:r>
          </a:p>
        </p:txBody>
      </p:sp>
      <p:sp>
        <p:nvSpPr>
          <p:cNvPr id="15" name="Rounded Rectangle 14"/>
          <p:cNvSpPr/>
          <p:nvPr/>
        </p:nvSpPr>
        <p:spPr>
          <a:xfrm>
            <a:off x="9921240" y="2834640"/>
            <a:ext cx="1645920" cy="548640"/>
          </a:xfrm>
          <a:prstGeom prst="roundRect">
            <a:avLst>
              <a:gd name="adj" fmla="val 8000"/>
            </a:avLst>
          </a:prstGeom>
          <a:solidFill>
            <a:srgbClr val="FFF4E0"/>
          </a:solidFill>
          <a:ln w="1587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4213D"/>
                </a:solidFill>
                <a:latin typeface="Calibri"/>
              </a:rPr>
              <a:t>File formats</a:t>
            </a:r>
          </a:p>
        </p:txBody>
      </p:sp>
      <p:sp>
        <p:nvSpPr>
          <p:cNvPr id="16" name="Rounded Rectangle 15"/>
          <p:cNvSpPr/>
          <p:nvPr/>
        </p:nvSpPr>
        <p:spPr>
          <a:xfrm>
            <a:off x="6675119" y="5166360"/>
            <a:ext cx="1645920" cy="548640"/>
          </a:xfrm>
          <a:prstGeom prst="roundRect">
            <a:avLst>
              <a:gd name="adj" fmla="val 8000"/>
            </a:avLst>
          </a:prstGeom>
          <a:solidFill>
            <a:srgbClr val="FFF4E0"/>
          </a:solidFill>
          <a:ln w="1587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4213D"/>
                </a:solidFill>
                <a:latin typeface="Calibri"/>
              </a:rPr>
              <a:t>Firmware</a:t>
            </a:r>
          </a:p>
        </p:txBody>
      </p:sp>
      <p:sp>
        <p:nvSpPr>
          <p:cNvPr id="17" name="Rounded Rectangle 16"/>
          <p:cNvSpPr/>
          <p:nvPr/>
        </p:nvSpPr>
        <p:spPr>
          <a:xfrm>
            <a:off x="8869680" y="5166360"/>
            <a:ext cx="1645920" cy="548640"/>
          </a:xfrm>
          <a:prstGeom prst="roundRect">
            <a:avLst>
              <a:gd name="adj" fmla="val 8000"/>
            </a:avLst>
          </a:prstGeom>
          <a:solidFill>
            <a:srgbClr val="FFF4E0"/>
          </a:solidFill>
          <a:ln w="1587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300" b="1" i="0">
                <a:solidFill>
                  <a:srgbClr val="14213D"/>
                </a:solidFill>
                <a:latin typeface="Calibri"/>
              </a:rPr>
              <a:t>Network traffic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Stage 2: Static Analysis</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10 / 20</a:t>
            </a:r>
          </a:p>
        </p:txBody>
      </p:sp>
      <p:sp>
        <p:nvSpPr>
          <p:cNvPr id="5" name="Rounded Rectangle 4"/>
          <p:cNvSpPr/>
          <p:nvPr/>
        </p:nvSpPr>
        <p:spPr>
          <a:xfrm>
            <a:off x="548640" y="1463040"/>
            <a:ext cx="1600200" cy="868680"/>
          </a:xfrm>
          <a:prstGeom prst="roundRect">
            <a:avLst>
              <a:gd name="adj" fmla="val 8000"/>
            </a:avLst>
          </a:prstGeom>
          <a:solidFill>
            <a:srgbClr val="EEF2F7"/>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14213D"/>
                </a:solidFill>
                <a:latin typeface="Calibri"/>
              </a:rPr>
              <a:t>Binary file</a:t>
            </a:r>
          </a:p>
        </p:txBody>
      </p:sp>
      <p:cxnSp>
        <p:nvCxnSpPr>
          <p:cNvPr id="6" name="Connector 5"/>
          <p:cNvCxnSpPr/>
          <p:nvPr/>
        </p:nvCxnSpPr>
        <p:spPr>
          <a:xfrm>
            <a:off x="2176272" y="1897380"/>
            <a:ext cx="237744"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441448" y="1463040"/>
            <a:ext cx="1600200" cy="8686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FFFFFF"/>
                </a:solidFill>
                <a:latin typeface="Calibri"/>
              </a:rPr>
              <a:t>Disassembler</a:t>
            </a:r>
          </a:p>
        </p:txBody>
      </p:sp>
      <p:cxnSp>
        <p:nvCxnSpPr>
          <p:cNvPr id="8" name="Connector 7"/>
          <p:cNvCxnSpPr/>
          <p:nvPr/>
        </p:nvCxnSpPr>
        <p:spPr>
          <a:xfrm>
            <a:off x="4069080" y="1897380"/>
            <a:ext cx="237744"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34255" y="1463040"/>
            <a:ext cx="1600200" cy="868680"/>
          </a:xfrm>
          <a:prstGeom prst="roundRect">
            <a:avLst>
              <a:gd name="adj" fmla="val 8000"/>
            </a:avLst>
          </a:prstGeom>
          <a:solidFill>
            <a:srgbClr val="EEF2F7"/>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14213D"/>
                </a:solidFill>
                <a:latin typeface="Calibri"/>
              </a:rPr>
              <a:t>Assembly listing</a:t>
            </a:r>
          </a:p>
        </p:txBody>
      </p:sp>
      <p:cxnSp>
        <p:nvCxnSpPr>
          <p:cNvPr id="10" name="Connector 9"/>
          <p:cNvCxnSpPr/>
          <p:nvPr/>
        </p:nvCxnSpPr>
        <p:spPr>
          <a:xfrm>
            <a:off x="5961888" y="1897380"/>
            <a:ext cx="23774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27063" y="1463040"/>
            <a:ext cx="1600200" cy="8686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FFFFFF"/>
                </a:solidFill>
                <a:latin typeface="Calibri"/>
              </a:rPr>
              <a:t>Decompiler</a:t>
            </a:r>
          </a:p>
        </p:txBody>
      </p:sp>
      <p:cxnSp>
        <p:nvCxnSpPr>
          <p:cNvPr id="12" name="Connector 11"/>
          <p:cNvCxnSpPr/>
          <p:nvPr/>
        </p:nvCxnSpPr>
        <p:spPr>
          <a:xfrm>
            <a:off x="7854695" y="1897380"/>
            <a:ext cx="237744"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19871" y="1463040"/>
            <a:ext cx="1600200" cy="868680"/>
          </a:xfrm>
          <a:prstGeom prst="roundRect">
            <a:avLst>
              <a:gd name="adj" fmla="val 8000"/>
            </a:avLst>
          </a:prstGeom>
          <a:solidFill>
            <a:srgbClr val="EEF2F7"/>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14213D"/>
                </a:solidFill>
                <a:latin typeface="Calibri"/>
              </a:rPr>
              <a:t>Pseudo-code</a:t>
            </a:r>
          </a:p>
        </p:txBody>
      </p:sp>
      <p:cxnSp>
        <p:nvCxnSpPr>
          <p:cNvPr id="14" name="Connector 13"/>
          <p:cNvCxnSpPr/>
          <p:nvPr/>
        </p:nvCxnSpPr>
        <p:spPr>
          <a:xfrm>
            <a:off x="9747503" y="1897380"/>
            <a:ext cx="237744"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012680" y="1463040"/>
            <a:ext cx="1600200" cy="868680"/>
          </a:xfrm>
          <a:prstGeom prst="roundRect">
            <a:avLst>
              <a:gd name="adj" fmla="val 8000"/>
            </a:avLst>
          </a:prstGeom>
          <a:solidFill>
            <a:srgbClr val="EEF2F7"/>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14213D"/>
                </a:solidFill>
                <a:latin typeface="Calibri"/>
              </a:rPr>
              <a:t>Annotated model</a:t>
            </a:r>
          </a:p>
        </p:txBody>
      </p:sp>
      <p:sp>
        <p:nvSpPr>
          <p:cNvPr id="16" name="Rectangle 15"/>
          <p:cNvSpPr/>
          <p:nvPr/>
        </p:nvSpPr>
        <p:spPr>
          <a:xfrm>
            <a:off x="548640" y="2514600"/>
            <a:ext cx="228600" cy="2286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468880"/>
            <a:ext cx="1371600" cy="320040"/>
          </a:xfrm>
          <a:prstGeom prst="rect">
            <a:avLst/>
          </a:prstGeom>
          <a:noFill/>
        </p:spPr>
        <p:txBody>
          <a:bodyPr wrap="square" anchor="ctr" lIns="0" rIns="0" tIns="0" bIns="0">
            <a:spAutoFit/>
          </a:bodyPr>
          <a:lstStyle/>
          <a:p>
            <a:pPr algn="l">
              <a:spcAft>
                <a:spcPts val="600"/>
              </a:spcAft>
            </a:pPr>
            <a:r>
              <a:rPr sz="1100" b="0" i="0">
                <a:solidFill>
                  <a:srgbClr val="6B7280"/>
                </a:solidFill>
                <a:latin typeface="Calibri"/>
              </a:rPr>
              <a:t>Tool</a:t>
            </a:r>
          </a:p>
        </p:txBody>
      </p:sp>
      <p:sp>
        <p:nvSpPr>
          <p:cNvPr id="18" name="Rectangle 17"/>
          <p:cNvSpPr/>
          <p:nvPr/>
        </p:nvSpPr>
        <p:spPr>
          <a:xfrm>
            <a:off x="1828800" y="2514600"/>
            <a:ext cx="228600" cy="228600"/>
          </a:xfrm>
          <a:prstGeom prst="rect">
            <a:avLst/>
          </a:prstGeom>
          <a:solidFill>
            <a:srgbClr val="EEF2F7"/>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48840" y="2468880"/>
            <a:ext cx="1371600" cy="320040"/>
          </a:xfrm>
          <a:prstGeom prst="rect">
            <a:avLst/>
          </a:prstGeom>
          <a:noFill/>
        </p:spPr>
        <p:txBody>
          <a:bodyPr wrap="square" anchor="ctr" lIns="0" rIns="0" tIns="0" bIns="0">
            <a:spAutoFit/>
          </a:bodyPr>
          <a:lstStyle/>
          <a:p>
            <a:pPr algn="l">
              <a:spcAft>
                <a:spcPts val="600"/>
              </a:spcAft>
            </a:pPr>
            <a:r>
              <a:rPr sz="1100" b="0" i="0">
                <a:solidFill>
                  <a:srgbClr val="6B7280"/>
                </a:solidFill>
                <a:latin typeface="Calibri"/>
              </a:rPr>
              <a:t>Artefact</a:t>
            </a:r>
          </a:p>
        </p:txBody>
      </p:sp>
      <p:sp>
        <p:nvSpPr>
          <p:cNvPr id="20" name="Rounded Rectangle 19"/>
          <p:cNvSpPr/>
          <p:nvPr/>
        </p:nvSpPr>
        <p:spPr>
          <a:xfrm>
            <a:off x="548640" y="3108960"/>
            <a:ext cx="3474720" cy="28346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59" y="3383280"/>
            <a:ext cx="502920" cy="50292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213D"/>
                </a:solidFill>
                <a:latin typeface="Cambria"/>
              </a:rPr>
              <a:t>1</a:t>
            </a:r>
          </a:p>
        </p:txBody>
      </p:sp>
      <p:sp>
        <p:nvSpPr>
          <p:cNvPr id="22" name="TextBox 21"/>
          <p:cNvSpPr txBox="1"/>
          <p:nvPr/>
        </p:nvSpPr>
        <p:spPr>
          <a:xfrm>
            <a:off x="822959" y="4023360"/>
            <a:ext cx="2926080" cy="457200"/>
          </a:xfrm>
          <a:prstGeom prst="rect">
            <a:avLst/>
          </a:prstGeom>
          <a:noFill/>
        </p:spPr>
        <p:txBody>
          <a:bodyPr wrap="square" anchor="t" lIns="0" rIns="0" tIns="0" bIns="0">
            <a:spAutoFit/>
          </a:bodyPr>
          <a:lstStyle/>
          <a:p>
            <a:pPr algn="l">
              <a:spcAft>
                <a:spcPts val="600"/>
              </a:spcAft>
            </a:pPr>
            <a:r>
              <a:rPr sz="1700" b="1" i="0">
                <a:solidFill>
                  <a:srgbClr val="14213D"/>
                </a:solidFill>
                <a:latin typeface="Calibri"/>
              </a:rPr>
              <a:t>String &amp; symbol extraction</a:t>
            </a:r>
          </a:p>
        </p:txBody>
      </p:sp>
      <p:sp>
        <p:nvSpPr>
          <p:cNvPr id="23" name="TextBox 22"/>
          <p:cNvSpPr txBox="1"/>
          <p:nvPr/>
        </p:nvSpPr>
        <p:spPr>
          <a:xfrm>
            <a:off x="822959" y="4526280"/>
            <a:ext cx="2926080" cy="132588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Readable strings, imports and exports reveal functionality, libraries and hidden configuration.</a:t>
            </a:r>
          </a:p>
        </p:txBody>
      </p:sp>
      <p:sp>
        <p:nvSpPr>
          <p:cNvPr id="24" name="Rounded Rectangle 23"/>
          <p:cNvSpPr/>
          <p:nvPr/>
        </p:nvSpPr>
        <p:spPr>
          <a:xfrm>
            <a:off x="4343400" y="3108960"/>
            <a:ext cx="3474720" cy="28346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617720" y="3383280"/>
            <a:ext cx="502920" cy="50292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213D"/>
                </a:solidFill>
                <a:latin typeface="Cambria"/>
              </a:rPr>
              <a:t>2</a:t>
            </a:r>
          </a:p>
        </p:txBody>
      </p:sp>
      <p:sp>
        <p:nvSpPr>
          <p:cNvPr id="26" name="TextBox 25"/>
          <p:cNvSpPr txBox="1"/>
          <p:nvPr/>
        </p:nvSpPr>
        <p:spPr>
          <a:xfrm>
            <a:off x="4617720" y="4023360"/>
            <a:ext cx="2926080" cy="457200"/>
          </a:xfrm>
          <a:prstGeom prst="rect">
            <a:avLst/>
          </a:prstGeom>
          <a:noFill/>
        </p:spPr>
        <p:txBody>
          <a:bodyPr wrap="square" anchor="t" lIns="0" rIns="0" tIns="0" bIns="0">
            <a:spAutoFit/>
          </a:bodyPr>
          <a:lstStyle/>
          <a:p>
            <a:pPr algn="l">
              <a:spcAft>
                <a:spcPts val="600"/>
              </a:spcAft>
            </a:pPr>
            <a:r>
              <a:rPr sz="1700" b="1" i="0">
                <a:solidFill>
                  <a:srgbClr val="14213D"/>
                </a:solidFill>
                <a:latin typeface="Calibri"/>
              </a:rPr>
              <a:t>Control- &amp; data-flow analysis</a:t>
            </a:r>
          </a:p>
        </p:txBody>
      </p:sp>
      <p:sp>
        <p:nvSpPr>
          <p:cNvPr id="27" name="TextBox 26"/>
          <p:cNvSpPr txBox="1"/>
          <p:nvPr/>
        </p:nvSpPr>
        <p:spPr>
          <a:xfrm>
            <a:off x="4617720" y="4526280"/>
            <a:ext cx="2926080" cy="132588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Functions, branches and variable usage are mapped to understand the program’s logic.</a:t>
            </a:r>
          </a:p>
        </p:txBody>
      </p:sp>
      <p:sp>
        <p:nvSpPr>
          <p:cNvPr id="28" name="Rounded Rectangle 27"/>
          <p:cNvSpPr/>
          <p:nvPr/>
        </p:nvSpPr>
        <p:spPr>
          <a:xfrm>
            <a:off x="8138160" y="3108960"/>
            <a:ext cx="3474720" cy="28346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412480" y="3383280"/>
            <a:ext cx="502920" cy="50292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213D"/>
                </a:solidFill>
                <a:latin typeface="Cambria"/>
              </a:rPr>
              <a:t>3</a:t>
            </a:r>
          </a:p>
        </p:txBody>
      </p:sp>
      <p:sp>
        <p:nvSpPr>
          <p:cNvPr id="30" name="TextBox 29"/>
          <p:cNvSpPr txBox="1"/>
          <p:nvPr/>
        </p:nvSpPr>
        <p:spPr>
          <a:xfrm>
            <a:off x="8412480" y="4023360"/>
            <a:ext cx="2926080" cy="457200"/>
          </a:xfrm>
          <a:prstGeom prst="rect">
            <a:avLst/>
          </a:prstGeom>
          <a:noFill/>
        </p:spPr>
        <p:txBody>
          <a:bodyPr wrap="square" anchor="t" lIns="0" rIns="0" tIns="0" bIns="0">
            <a:spAutoFit/>
          </a:bodyPr>
          <a:lstStyle/>
          <a:p>
            <a:pPr algn="l">
              <a:spcAft>
                <a:spcPts val="600"/>
              </a:spcAft>
            </a:pPr>
            <a:r>
              <a:rPr sz="1700" b="1" i="0">
                <a:solidFill>
                  <a:srgbClr val="14213D"/>
                </a:solidFill>
                <a:latin typeface="Calibri"/>
              </a:rPr>
              <a:t>Signature matching</a:t>
            </a:r>
          </a:p>
        </p:txBody>
      </p:sp>
      <p:sp>
        <p:nvSpPr>
          <p:cNvPr id="31" name="TextBox 30"/>
          <p:cNvSpPr txBox="1"/>
          <p:nvPr/>
        </p:nvSpPr>
        <p:spPr>
          <a:xfrm>
            <a:off x="8412480" y="4526280"/>
            <a:ext cx="2926080" cy="132588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Known library code and malware families are recognised with signatures such as FLIRT or YARA.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Stage 3: Dynamic Analysis</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11 / 20</a:t>
            </a:r>
          </a:p>
        </p:txBody>
      </p:sp>
      <p:sp>
        <p:nvSpPr>
          <p:cNvPr id="5" name="Rounded Rectangle 4"/>
          <p:cNvSpPr/>
          <p:nvPr/>
        </p:nvSpPr>
        <p:spPr>
          <a:xfrm>
            <a:off x="548640" y="1463040"/>
            <a:ext cx="6035040" cy="4526280"/>
          </a:xfrm>
          <a:prstGeom prst="roundRect">
            <a:avLst>
              <a:gd name="adj" fmla="val 8000"/>
            </a:avLst>
          </a:prstGeom>
          <a:noFill/>
          <a:ln w="19050">
            <a:solidFill>
              <a:srgbClr val="2A9D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5486400" cy="411480"/>
          </a:xfrm>
          <a:prstGeom prst="rect">
            <a:avLst/>
          </a:prstGeom>
          <a:noFill/>
        </p:spPr>
        <p:txBody>
          <a:bodyPr wrap="square" anchor="t" lIns="0" rIns="0" tIns="0" bIns="0">
            <a:spAutoFit/>
          </a:bodyPr>
          <a:lstStyle/>
          <a:p>
            <a:pPr algn="l">
              <a:spcAft>
                <a:spcPts val="600"/>
              </a:spcAft>
            </a:pPr>
            <a:r>
              <a:rPr sz="1400" b="1" i="0">
                <a:solidFill>
                  <a:srgbClr val="2A9D8F"/>
                </a:solidFill>
                <a:latin typeface="Calibri"/>
              </a:rPr>
              <a:t>Isolated sandbox / virtual machine</a:t>
            </a:r>
          </a:p>
        </p:txBody>
      </p:sp>
      <p:sp>
        <p:nvSpPr>
          <p:cNvPr id="7" name="Rounded Rectangle 6"/>
          <p:cNvSpPr/>
          <p:nvPr/>
        </p:nvSpPr>
        <p:spPr>
          <a:xfrm>
            <a:off x="1005840" y="2240280"/>
            <a:ext cx="2103120" cy="82296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600" b="1" i="0">
                <a:solidFill>
                  <a:srgbClr val="FFFFFF"/>
                </a:solidFill>
                <a:latin typeface="Calibri"/>
              </a:rPr>
              <a:t>Run target</a:t>
            </a:r>
          </a:p>
        </p:txBody>
      </p:sp>
      <p:sp>
        <p:nvSpPr>
          <p:cNvPr id="8" name="Rounded Rectangle 7"/>
          <p:cNvSpPr/>
          <p:nvPr/>
        </p:nvSpPr>
        <p:spPr>
          <a:xfrm>
            <a:off x="4023360" y="2240280"/>
            <a:ext cx="2103120" cy="82296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600" b="1" i="0">
                <a:solidFill>
                  <a:srgbClr val="FFFFFF"/>
                </a:solidFill>
                <a:latin typeface="Calibri"/>
              </a:rPr>
              <a:t>Observe</a:t>
            </a:r>
          </a:p>
        </p:txBody>
      </p:sp>
      <p:sp>
        <p:nvSpPr>
          <p:cNvPr id="9" name="Rounded Rectangle 8"/>
          <p:cNvSpPr/>
          <p:nvPr/>
        </p:nvSpPr>
        <p:spPr>
          <a:xfrm>
            <a:off x="4023360" y="4526280"/>
            <a:ext cx="2103120" cy="82296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600" b="1" i="0">
                <a:solidFill>
                  <a:srgbClr val="FFFFFF"/>
                </a:solidFill>
                <a:latin typeface="Calibri"/>
              </a:rPr>
              <a:t>Record behaviour</a:t>
            </a:r>
          </a:p>
        </p:txBody>
      </p:sp>
      <p:sp>
        <p:nvSpPr>
          <p:cNvPr id="10" name="Rounded Rectangle 9"/>
          <p:cNvSpPr/>
          <p:nvPr/>
        </p:nvSpPr>
        <p:spPr>
          <a:xfrm>
            <a:off x="1005840" y="4526280"/>
            <a:ext cx="2103120" cy="82296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600" b="1" i="0">
                <a:solidFill>
                  <a:srgbClr val="FFFFFF"/>
                </a:solidFill>
                <a:latin typeface="Calibri"/>
              </a:rPr>
              <a:t>Adjust inputs</a:t>
            </a:r>
          </a:p>
        </p:txBody>
      </p:sp>
      <p:cxnSp>
        <p:nvCxnSpPr>
          <p:cNvPr id="11" name="Connector 10"/>
          <p:cNvCxnSpPr/>
          <p:nvPr/>
        </p:nvCxnSpPr>
        <p:spPr>
          <a:xfrm>
            <a:off x="3154680" y="2651760"/>
            <a:ext cx="822959" cy="0"/>
          </a:xfrm>
          <a:prstGeom prst="line">
            <a:avLst/>
          </a:prstGeom>
          <a:ln w="31750">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74920" y="3108960"/>
            <a:ext cx="0" cy="1371600"/>
          </a:xfrm>
          <a:prstGeom prst="line">
            <a:avLst/>
          </a:prstGeom>
          <a:ln w="31750">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154680" y="4937760"/>
            <a:ext cx="822959" cy="0"/>
          </a:xfrm>
          <a:prstGeom prst="line">
            <a:avLst/>
          </a:prstGeom>
          <a:ln w="31750">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57400" y="3108960"/>
            <a:ext cx="0" cy="1371600"/>
          </a:xfrm>
          <a:prstGeom prst="line">
            <a:avLst/>
          </a:prstGeom>
          <a:ln w="31750">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377440" y="3520440"/>
            <a:ext cx="2194560" cy="457200"/>
          </a:xfrm>
          <a:prstGeom prst="rect">
            <a:avLst/>
          </a:prstGeom>
          <a:noFill/>
        </p:spPr>
        <p:txBody>
          <a:bodyPr wrap="square" anchor="t" lIns="0" rIns="0" tIns="0" bIns="0">
            <a:spAutoFit/>
          </a:bodyPr>
          <a:lstStyle/>
          <a:p>
            <a:pPr algn="ctr">
              <a:spcAft>
                <a:spcPts val="600"/>
              </a:spcAft>
            </a:pPr>
            <a:r>
              <a:rPr sz="1400" b="0" i="1">
                <a:solidFill>
                  <a:srgbClr val="6B7280"/>
                </a:solidFill>
                <a:latin typeface="Calibri"/>
              </a:rPr>
              <a:t>Analysis loop</a:t>
            </a:r>
          </a:p>
        </p:txBody>
      </p:sp>
      <p:sp>
        <p:nvSpPr>
          <p:cNvPr id="16" name="TextBox 15"/>
          <p:cNvSpPr txBox="1"/>
          <p:nvPr/>
        </p:nvSpPr>
        <p:spPr>
          <a:xfrm>
            <a:off x="7132320" y="1463040"/>
            <a:ext cx="4480560" cy="457200"/>
          </a:xfrm>
          <a:prstGeom prst="rect">
            <a:avLst/>
          </a:prstGeom>
          <a:noFill/>
        </p:spPr>
        <p:txBody>
          <a:bodyPr wrap="square" anchor="t" lIns="0" rIns="0" tIns="0" bIns="0">
            <a:spAutoFit/>
          </a:bodyPr>
          <a:lstStyle/>
          <a:p>
            <a:pPr algn="l">
              <a:spcAft>
                <a:spcPts val="600"/>
              </a:spcAft>
            </a:pPr>
            <a:r>
              <a:rPr sz="2000" b="1" i="0">
                <a:solidFill>
                  <a:srgbClr val="14213D"/>
                </a:solidFill>
                <a:latin typeface="Calibri"/>
              </a:rPr>
              <a:t>What is observed</a:t>
            </a:r>
          </a:p>
        </p:txBody>
      </p:sp>
      <p:sp>
        <p:nvSpPr>
          <p:cNvPr id="17" name="Oval 16"/>
          <p:cNvSpPr/>
          <p:nvPr/>
        </p:nvSpPr>
        <p:spPr>
          <a:xfrm>
            <a:off x="7132320" y="213055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FFFFF"/>
                </a:solidFill>
                <a:latin typeface="Cambria"/>
              </a:rPr>
              <a:t>1</a:t>
            </a:r>
          </a:p>
        </p:txBody>
      </p:sp>
      <p:sp>
        <p:nvSpPr>
          <p:cNvPr id="18" name="TextBox 17"/>
          <p:cNvSpPr txBox="1"/>
          <p:nvPr/>
        </p:nvSpPr>
        <p:spPr>
          <a:xfrm>
            <a:off x="7772400" y="2057400"/>
            <a:ext cx="3840480" cy="822960"/>
          </a:xfrm>
          <a:prstGeom prst="rect">
            <a:avLst/>
          </a:prstGeom>
          <a:noFill/>
        </p:spPr>
        <p:txBody>
          <a:bodyPr wrap="square" anchor="t" lIns="0" rIns="0" tIns="0" bIns="0">
            <a:spAutoFit/>
          </a:bodyPr>
          <a:lstStyle/>
          <a:p>
            <a:pPr algn="l">
              <a:spcAft>
                <a:spcPts val="0"/>
              </a:spcAft>
            </a:pPr>
            <a:r>
              <a:rPr sz="1500" b="1" i="0">
                <a:solidFill>
                  <a:srgbClr val="14213D"/>
                </a:solidFill>
                <a:latin typeface="Calibri"/>
              </a:rPr>
              <a:t>System &amp; API calls</a:t>
            </a:r>
          </a:p>
          <a:p>
            <a:pPr algn="l">
              <a:spcAft>
                <a:spcPts val="0"/>
              </a:spcAft>
            </a:pPr>
            <a:r>
              <a:rPr sz="1300" b="0" i="0">
                <a:solidFill>
                  <a:srgbClr val="1F2937"/>
                </a:solidFill>
                <a:latin typeface="Calibri"/>
              </a:rPr>
              <a:t>Which operating-system services are used</a:t>
            </a:r>
          </a:p>
        </p:txBody>
      </p:sp>
      <p:sp>
        <p:nvSpPr>
          <p:cNvPr id="19" name="Oval 18"/>
          <p:cNvSpPr/>
          <p:nvPr/>
        </p:nvSpPr>
        <p:spPr>
          <a:xfrm>
            <a:off x="7132320" y="299923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FFFFF"/>
                </a:solidFill>
                <a:latin typeface="Cambria"/>
              </a:rPr>
              <a:t>2</a:t>
            </a:r>
          </a:p>
        </p:txBody>
      </p:sp>
      <p:sp>
        <p:nvSpPr>
          <p:cNvPr id="20" name="TextBox 19"/>
          <p:cNvSpPr txBox="1"/>
          <p:nvPr/>
        </p:nvSpPr>
        <p:spPr>
          <a:xfrm>
            <a:off x="7772400" y="2926080"/>
            <a:ext cx="3840480" cy="822960"/>
          </a:xfrm>
          <a:prstGeom prst="rect">
            <a:avLst/>
          </a:prstGeom>
          <a:noFill/>
        </p:spPr>
        <p:txBody>
          <a:bodyPr wrap="square" anchor="t" lIns="0" rIns="0" tIns="0" bIns="0">
            <a:spAutoFit/>
          </a:bodyPr>
          <a:lstStyle/>
          <a:p>
            <a:pPr algn="l">
              <a:spcAft>
                <a:spcPts val="0"/>
              </a:spcAft>
            </a:pPr>
            <a:r>
              <a:rPr sz="1500" b="1" i="0">
                <a:solidFill>
                  <a:srgbClr val="14213D"/>
                </a:solidFill>
                <a:latin typeface="Calibri"/>
              </a:rPr>
              <a:t>Memory &amp; registers</a:t>
            </a:r>
          </a:p>
          <a:p>
            <a:pPr algn="l">
              <a:spcAft>
                <a:spcPts val="0"/>
              </a:spcAft>
            </a:pPr>
            <a:r>
              <a:rPr sz="1300" b="0" i="0">
                <a:solidFill>
                  <a:srgbClr val="1F2937"/>
                </a:solidFill>
                <a:latin typeface="Calibri"/>
              </a:rPr>
              <a:t>Values and decrypted data at run time</a:t>
            </a:r>
          </a:p>
        </p:txBody>
      </p:sp>
      <p:sp>
        <p:nvSpPr>
          <p:cNvPr id="21" name="Oval 20"/>
          <p:cNvSpPr/>
          <p:nvPr/>
        </p:nvSpPr>
        <p:spPr>
          <a:xfrm>
            <a:off x="7132320" y="386791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FFFFF"/>
                </a:solidFill>
                <a:latin typeface="Cambria"/>
              </a:rPr>
              <a:t>3</a:t>
            </a:r>
          </a:p>
        </p:txBody>
      </p:sp>
      <p:sp>
        <p:nvSpPr>
          <p:cNvPr id="22" name="TextBox 21"/>
          <p:cNvSpPr txBox="1"/>
          <p:nvPr/>
        </p:nvSpPr>
        <p:spPr>
          <a:xfrm>
            <a:off x="7772400" y="3794760"/>
            <a:ext cx="3840480" cy="822960"/>
          </a:xfrm>
          <a:prstGeom prst="rect">
            <a:avLst/>
          </a:prstGeom>
          <a:noFill/>
        </p:spPr>
        <p:txBody>
          <a:bodyPr wrap="square" anchor="t" lIns="0" rIns="0" tIns="0" bIns="0">
            <a:spAutoFit/>
          </a:bodyPr>
          <a:lstStyle/>
          <a:p>
            <a:pPr algn="l">
              <a:spcAft>
                <a:spcPts val="0"/>
              </a:spcAft>
            </a:pPr>
            <a:r>
              <a:rPr sz="1500" b="1" i="0">
                <a:solidFill>
                  <a:srgbClr val="14213D"/>
                </a:solidFill>
                <a:latin typeface="Calibri"/>
              </a:rPr>
              <a:t>Network traffic</a:t>
            </a:r>
          </a:p>
          <a:p>
            <a:pPr algn="l">
              <a:spcAft>
                <a:spcPts val="0"/>
              </a:spcAft>
            </a:pPr>
            <a:r>
              <a:rPr sz="1300" b="0" i="0">
                <a:solidFill>
                  <a:srgbClr val="1F2937"/>
                </a:solidFill>
                <a:latin typeface="Calibri"/>
              </a:rPr>
              <a:t>Hosts contacted and protocols spoken</a:t>
            </a:r>
          </a:p>
        </p:txBody>
      </p:sp>
      <p:sp>
        <p:nvSpPr>
          <p:cNvPr id="23" name="Oval 22"/>
          <p:cNvSpPr/>
          <p:nvPr/>
        </p:nvSpPr>
        <p:spPr>
          <a:xfrm>
            <a:off x="7132320" y="473659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FFFFF"/>
                </a:solidFill>
                <a:latin typeface="Cambria"/>
              </a:rPr>
              <a:t>4</a:t>
            </a:r>
          </a:p>
        </p:txBody>
      </p:sp>
      <p:sp>
        <p:nvSpPr>
          <p:cNvPr id="24" name="TextBox 23"/>
          <p:cNvSpPr txBox="1"/>
          <p:nvPr/>
        </p:nvSpPr>
        <p:spPr>
          <a:xfrm>
            <a:off x="7772400" y="4663440"/>
            <a:ext cx="3840480" cy="822960"/>
          </a:xfrm>
          <a:prstGeom prst="rect">
            <a:avLst/>
          </a:prstGeom>
          <a:noFill/>
        </p:spPr>
        <p:txBody>
          <a:bodyPr wrap="square" anchor="t" lIns="0" rIns="0" tIns="0" bIns="0">
            <a:spAutoFit/>
          </a:bodyPr>
          <a:lstStyle/>
          <a:p>
            <a:pPr algn="l">
              <a:spcAft>
                <a:spcPts val="0"/>
              </a:spcAft>
            </a:pPr>
            <a:r>
              <a:rPr sz="1500" b="1" i="0">
                <a:solidFill>
                  <a:srgbClr val="14213D"/>
                </a:solidFill>
                <a:latin typeface="Calibri"/>
              </a:rPr>
              <a:t>File &amp; registry changes</a:t>
            </a:r>
          </a:p>
          <a:p>
            <a:pPr algn="l">
              <a:spcAft>
                <a:spcPts val="0"/>
              </a:spcAft>
            </a:pPr>
            <a:r>
              <a:rPr sz="1300" b="0" i="0">
                <a:solidFill>
                  <a:srgbClr val="1F2937"/>
                </a:solidFill>
                <a:latin typeface="Calibri"/>
              </a:rPr>
              <a:t>What the program creates or modifies</a:t>
            </a:r>
          </a:p>
        </p:txBody>
      </p:sp>
      <p:sp>
        <p:nvSpPr>
          <p:cNvPr id="25" name="TextBox 24"/>
          <p:cNvSpPr txBox="1"/>
          <p:nvPr/>
        </p:nvSpPr>
        <p:spPr>
          <a:xfrm>
            <a:off x="7132320" y="5577840"/>
            <a:ext cx="4480560" cy="411480"/>
          </a:xfrm>
          <a:prstGeom prst="rect">
            <a:avLst/>
          </a:prstGeom>
          <a:noFill/>
        </p:spPr>
        <p:txBody>
          <a:bodyPr wrap="square" anchor="t" lIns="0" rIns="0" tIns="0" bIns="0">
            <a:spAutoFit/>
          </a:bodyPr>
          <a:lstStyle/>
          <a:p>
            <a:pPr algn="l">
              <a:spcAft>
                <a:spcPts val="600"/>
              </a:spcAft>
            </a:pPr>
            <a:r>
              <a:rPr sz="1200" b="0" i="1">
                <a:solidFill>
                  <a:srgbClr val="6B7280"/>
                </a:solidFill>
                <a:latin typeface="Calibri"/>
              </a:rPr>
              <a:t>Typical tools: x64dbg, GDB, Frida, Process Monitor, Wireshark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Stage 4: Reconstruct Models</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12 / 20</a:t>
            </a:r>
          </a:p>
        </p:txBody>
      </p:sp>
      <p:sp>
        <p:nvSpPr>
          <p:cNvPr id="5" name="Rounded Rectangle 4"/>
          <p:cNvSpPr/>
          <p:nvPr/>
        </p:nvSpPr>
        <p:spPr>
          <a:xfrm>
            <a:off x="548640" y="1554480"/>
            <a:ext cx="2834640" cy="434340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37360"/>
            <a:ext cx="2377440" cy="457200"/>
          </a:xfrm>
          <a:prstGeom prst="rect">
            <a:avLst/>
          </a:prstGeom>
          <a:noFill/>
        </p:spPr>
        <p:txBody>
          <a:bodyPr wrap="square" anchor="t" lIns="0" rIns="0" tIns="0" bIns="0">
            <a:spAutoFit/>
          </a:bodyPr>
          <a:lstStyle/>
          <a:p>
            <a:pPr algn="l">
              <a:spcAft>
                <a:spcPts val="600"/>
              </a:spcAft>
            </a:pPr>
            <a:r>
              <a:rPr sz="1900" b="1" i="0">
                <a:solidFill>
                  <a:srgbClr val="FCA311"/>
                </a:solidFill>
                <a:latin typeface="Calibri"/>
              </a:rPr>
              <a:t>Raw findings</a:t>
            </a:r>
          </a:p>
        </p:txBody>
      </p:sp>
      <p:sp>
        <p:nvSpPr>
          <p:cNvPr id="7" name="TextBox 6"/>
          <p:cNvSpPr txBox="1"/>
          <p:nvPr/>
        </p:nvSpPr>
        <p:spPr>
          <a:xfrm>
            <a:off x="777240" y="2331720"/>
            <a:ext cx="2377440" cy="3383280"/>
          </a:xfrm>
          <a:prstGeom prst="rect">
            <a:avLst/>
          </a:prstGeom>
          <a:noFill/>
        </p:spPr>
        <p:txBody>
          <a:bodyPr wrap="square" anchor="t" lIns="0" rIns="0" tIns="0" bIns="0">
            <a:spAutoFit/>
          </a:bodyPr>
          <a:lstStyle/>
          <a:p>
            <a:pPr algn="l" marL="256032" indent="-256032">
              <a:spcAft>
                <a:spcPts val="1000"/>
              </a:spcAft>
              <a:buClr>
                <a:srgbClr val="FCA311"/>
              </a:buClr>
              <a:buFont typeface="Arial"/>
              <a:buChar char="•"/>
            </a:pPr>
            <a:r>
              <a:rPr sz="1500" b="0" i="0">
                <a:solidFill>
                  <a:srgbClr val="FFFFFF"/>
                </a:solidFill>
                <a:latin typeface="Calibri"/>
              </a:rPr>
              <a:t>Assembly &amp; pseudo-code</a:t>
            </a:r>
          </a:p>
          <a:p>
            <a:pPr algn="l" marL="256032" indent="-256032">
              <a:spcAft>
                <a:spcPts val="1000"/>
              </a:spcAft>
              <a:buClr>
                <a:srgbClr val="FCA311"/>
              </a:buClr>
              <a:buFont typeface="Arial"/>
              <a:buChar char="•"/>
            </a:pPr>
            <a:r>
              <a:rPr sz="1500" b="0" i="0">
                <a:solidFill>
                  <a:srgbClr val="FFFFFF"/>
                </a:solidFill>
                <a:latin typeface="Calibri"/>
              </a:rPr>
              <a:t>Execution traces</a:t>
            </a:r>
          </a:p>
          <a:p>
            <a:pPr algn="l" marL="256032" indent="-256032">
              <a:spcAft>
                <a:spcPts val="1000"/>
              </a:spcAft>
              <a:buClr>
                <a:srgbClr val="FCA311"/>
              </a:buClr>
              <a:buFont typeface="Arial"/>
              <a:buChar char="•"/>
            </a:pPr>
            <a:r>
              <a:rPr sz="1500" b="0" i="0">
                <a:solidFill>
                  <a:srgbClr val="FFFFFF"/>
                </a:solidFill>
                <a:latin typeface="Calibri"/>
              </a:rPr>
              <a:t>Strings &amp; symbols</a:t>
            </a:r>
          </a:p>
          <a:p>
            <a:pPr algn="l" marL="256032" indent="-256032">
              <a:spcAft>
                <a:spcPts val="1000"/>
              </a:spcAft>
              <a:buClr>
                <a:srgbClr val="FCA311"/>
              </a:buClr>
              <a:buFont typeface="Arial"/>
              <a:buChar char="•"/>
            </a:pPr>
            <a:r>
              <a:rPr sz="1500" b="0" i="0">
                <a:solidFill>
                  <a:srgbClr val="FFFFFF"/>
                </a:solidFill>
                <a:latin typeface="Calibri"/>
              </a:rPr>
              <a:t>Memory dumps</a:t>
            </a:r>
          </a:p>
          <a:p>
            <a:pPr algn="l" marL="256032" indent="-256032">
              <a:spcAft>
                <a:spcPts val="1000"/>
              </a:spcAft>
              <a:buClr>
                <a:srgbClr val="FCA311"/>
              </a:buClr>
              <a:buFont typeface="Arial"/>
              <a:buChar char="•"/>
            </a:pPr>
            <a:r>
              <a:rPr sz="1500" b="0" i="0">
                <a:solidFill>
                  <a:srgbClr val="FFFFFF"/>
                </a:solidFill>
                <a:latin typeface="Calibri"/>
              </a:rPr>
              <a:t>Network captures</a:t>
            </a:r>
          </a:p>
        </p:txBody>
      </p:sp>
      <p:cxnSp>
        <p:nvCxnSpPr>
          <p:cNvPr id="8" name="Connector 7"/>
          <p:cNvCxnSpPr/>
          <p:nvPr/>
        </p:nvCxnSpPr>
        <p:spPr>
          <a:xfrm>
            <a:off x="3474720" y="3721608"/>
            <a:ext cx="868680" cy="0"/>
          </a:xfrm>
          <a:prstGeom prst="line">
            <a:avLst/>
          </a:prstGeom>
          <a:ln w="38100">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337560" y="3246120"/>
            <a:ext cx="1188720" cy="365760"/>
          </a:xfrm>
          <a:prstGeom prst="rect">
            <a:avLst/>
          </a:prstGeom>
          <a:noFill/>
        </p:spPr>
        <p:txBody>
          <a:bodyPr wrap="square" anchor="t" lIns="0" rIns="0" tIns="0" bIns="0">
            <a:spAutoFit/>
          </a:bodyPr>
          <a:lstStyle/>
          <a:p>
            <a:pPr algn="ctr">
              <a:spcAft>
                <a:spcPts val="600"/>
              </a:spcAft>
            </a:pPr>
            <a:r>
              <a:rPr sz="1100" b="0" i="1">
                <a:solidFill>
                  <a:srgbClr val="6B7280"/>
                </a:solidFill>
                <a:latin typeface="Calibri"/>
              </a:rPr>
              <a:t>abstract</a:t>
            </a:r>
          </a:p>
        </p:txBody>
      </p:sp>
      <p:sp>
        <p:nvSpPr>
          <p:cNvPr id="10" name="Rounded Rectangle 9"/>
          <p:cNvSpPr/>
          <p:nvPr/>
        </p:nvSpPr>
        <p:spPr>
          <a:xfrm>
            <a:off x="4526280" y="1554480"/>
            <a:ext cx="3429000" cy="196596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1783080"/>
            <a:ext cx="2880360" cy="457200"/>
          </a:xfrm>
          <a:prstGeom prst="rect">
            <a:avLst/>
          </a:prstGeom>
          <a:noFill/>
        </p:spPr>
        <p:txBody>
          <a:bodyPr wrap="square" anchor="t" lIns="0" rIns="0" tIns="0" bIns="0">
            <a:spAutoFit/>
          </a:bodyPr>
          <a:lstStyle/>
          <a:p>
            <a:pPr algn="l">
              <a:spcAft>
                <a:spcPts val="600"/>
              </a:spcAft>
            </a:pPr>
            <a:r>
              <a:rPr sz="1800" b="1" i="0">
                <a:solidFill>
                  <a:srgbClr val="14213D"/>
                </a:solidFill>
                <a:latin typeface="Calibri"/>
              </a:rPr>
              <a:t>Call graph</a:t>
            </a:r>
          </a:p>
        </p:txBody>
      </p:sp>
      <p:sp>
        <p:nvSpPr>
          <p:cNvPr id="12" name="TextBox 11"/>
          <p:cNvSpPr txBox="1"/>
          <p:nvPr/>
        </p:nvSpPr>
        <p:spPr>
          <a:xfrm>
            <a:off x="4800600" y="2331720"/>
            <a:ext cx="2880360" cy="109728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Which functions call which, revealing overall program structure.</a:t>
            </a:r>
          </a:p>
        </p:txBody>
      </p:sp>
      <p:sp>
        <p:nvSpPr>
          <p:cNvPr id="13" name="Rounded Rectangle 12"/>
          <p:cNvSpPr/>
          <p:nvPr/>
        </p:nvSpPr>
        <p:spPr>
          <a:xfrm>
            <a:off x="8183879" y="1554480"/>
            <a:ext cx="3429000" cy="196596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783080"/>
            <a:ext cx="2880360" cy="457200"/>
          </a:xfrm>
          <a:prstGeom prst="rect">
            <a:avLst/>
          </a:prstGeom>
          <a:noFill/>
        </p:spPr>
        <p:txBody>
          <a:bodyPr wrap="square" anchor="t" lIns="0" rIns="0" tIns="0" bIns="0">
            <a:spAutoFit/>
          </a:bodyPr>
          <a:lstStyle/>
          <a:p>
            <a:pPr algn="l">
              <a:spcAft>
                <a:spcPts val="600"/>
              </a:spcAft>
            </a:pPr>
            <a:r>
              <a:rPr sz="1800" b="1" i="0">
                <a:solidFill>
                  <a:srgbClr val="14213D"/>
                </a:solidFill>
                <a:latin typeface="Calibri"/>
              </a:rPr>
              <a:t>Data-flow diagram</a:t>
            </a:r>
          </a:p>
        </p:txBody>
      </p:sp>
      <p:sp>
        <p:nvSpPr>
          <p:cNvPr id="15" name="TextBox 14"/>
          <p:cNvSpPr txBox="1"/>
          <p:nvPr/>
        </p:nvSpPr>
        <p:spPr>
          <a:xfrm>
            <a:off x="8458200" y="2331720"/>
            <a:ext cx="2880360" cy="109728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How data moves between inputs, processes and stores.</a:t>
            </a:r>
          </a:p>
        </p:txBody>
      </p:sp>
      <p:sp>
        <p:nvSpPr>
          <p:cNvPr id="16" name="Rounded Rectangle 15"/>
          <p:cNvSpPr/>
          <p:nvPr/>
        </p:nvSpPr>
        <p:spPr>
          <a:xfrm>
            <a:off x="4526280" y="3794760"/>
            <a:ext cx="3429000" cy="196596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4023360"/>
            <a:ext cx="2880360" cy="457200"/>
          </a:xfrm>
          <a:prstGeom prst="rect">
            <a:avLst/>
          </a:prstGeom>
          <a:noFill/>
        </p:spPr>
        <p:txBody>
          <a:bodyPr wrap="square" anchor="t" lIns="0" rIns="0" tIns="0" bIns="0">
            <a:spAutoFit/>
          </a:bodyPr>
          <a:lstStyle/>
          <a:p>
            <a:pPr algn="l">
              <a:spcAft>
                <a:spcPts val="600"/>
              </a:spcAft>
            </a:pPr>
            <a:r>
              <a:rPr sz="1800" b="1" i="0">
                <a:solidFill>
                  <a:srgbClr val="14213D"/>
                </a:solidFill>
                <a:latin typeface="Calibri"/>
              </a:rPr>
              <a:t>UML models</a:t>
            </a:r>
          </a:p>
        </p:txBody>
      </p:sp>
      <p:sp>
        <p:nvSpPr>
          <p:cNvPr id="18" name="TextBox 17"/>
          <p:cNvSpPr txBox="1"/>
          <p:nvPr/>
        </p:nvSpPr>
        <p:spPr>
          <a:xfrm>
            <a:off x="4800600" y="4572000"/>
            <a:ext cx="2880360" cy="109728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Class and sequence diagrams of the recovered design.</a:t>
            </a:r>
          </a:p>
        </p:txBody>
      </p:sp>
      <p:sp>
        <p:nvSpPr>
          <p:cNvPr id="19" name="Rounded Rectangle 18"/>
          <p:cNvSpPr/>
          <p:nvPr/>
        </p:nvSpPr>
        <p:spPr>
          <a:xfrm>
            <a:off x="8183879" y="3794760"/>
            <a:ext cx="3429000" cy="196596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4023360"/>
            <a:ext cx="2880360" cy="457200"/>
          </a:xfrm>
          <a:prstGeom prst="rect">
            <a:avLst/>
          </a:prstGeom>
          <a:noFill/>
        </p:spPr>
        <p:txBody>
          <a:bodyPr wrap="square" anchor="t" lIns="0" rIns="0" tIns="0" bIns="0">
            <a:spAutoFit/>
          </a:bodyPr>
          <a:lstStyle/>
          <a:p>
            <a:pPr algn="l">
              <a:spcAft>
                <a:spcPts val="600"/>
              </a:spcAft>
            </a:pPr>
            <a:r>
              <a:rPr sz="1800" b="1" i="0">
                <a:solidFill>
                  <a:srgbClr val="14213D"/>
                </a:solidFill>
                <a:latin typeface="Calibri"/>
              </a:rPr>
              <a:t>Format &amp; protocol specs</a:t>
            </a:r>
          </a:p>
        </p:txBody>
      </p:sp>
      <p:sp>
        <p:nvSpPr>
          <p:cNvPr id="21" name="TextBox 20"/>
          <p:cNvSpPr txBox="1"/>
          <p:nvPr/>
        </p:nvSpPr>
        <p:spPr>
          <a:xfrm>
            <a:off x="8458200" y="4572000"/>
            <a:ext cx="2880360" cy="109728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Documented file layouts and message structures.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Stages 5–6: Verify and Document</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13 / 20</a:t>
            </a:r>
          </a:p>
        </p:txBody>
      </p:sp>
      <p:sp>
        <p:nvSpPr>
          <p:cNvPr id="5" name="Rounded Rectangle 4"/>
          <p:cNvSpPr/>
          <p:nvPr/>
        </p:nvSpPr>
        <p:spPr>
          <a:xfrm>
            <a:off x="548640" y="1874519"/>
            <a:ext cx="1554480" cy="822960"/>
          </a:xfrm>
          <a:prstGeom prst="roundRect">
            <a:avLst>
              <a:gd name="adj" fmla="val 8000"/>
            </a:avLst>
          </a:prstGeom>
          <a:solidFill>
            <a:srgbClr val="EEF2F7"/>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14213D"/>
                </a:solidFill>
                <a:latin typeface="Calibri"/>
              </a:rPr>
              <a:t>Same input</a:t>
            </a:r>
          </a:p>
        </p:txBody>
      </p:sp>
      <p:sp>
        <p:nvSpPr>
          <p:cNvPr id="6" name="Rounded Rectangle 5"/>
          <p:cNvSpPr/>
          <p:nvPr/>
        </p:nvSpPr>
        <p:spPr>
          <a:xfrm>
            <a:off x="2743200" y="1417320"/>
            <a:ext cx="2560320" cy="77724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i="0">
                <a:solidFill>
                  <a:srgbClr val="FFFFFF"/>
                </a:solidFill>
                <a:latin typeface="Calibri"/>
              </a:rPr>
              <a:t>Original system</a:t>
            </a:r>
          </a:p>
        </p:txBody>
      </p:sp>
      <p:sp>
        <p:nvSpPr>
          <p:cNvPr id="7" name="Rounded Rectangle 6"/>
          <p:cNvSpPr/>
          <p:nvPr/>
        </p:nvSpPr>
        <p:spPr>
          <a:xfrm>
            <a:off x="2743200" y="2606040"/>
            <a:ext cx="2560320" cy="77724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i="0">
                <a:solidFill>
                  <a:srgbClr val="FFFFFF"/>
                </a:solidFill>
                <a:latin typeface="Calibri"/>
              </a:rPr>
              <a:t>Reconstructed model</a:t>
            </a:r>
          </a:p>
        </p:txBody>
      </p:sp>
      <p:sp>
        <p:nvSpPr>
          <p:cNvPr id="8" name="Rounded Rectangle 7"/>
          <p:cNvSpPr/>
          <p:nvPr/>
        </p:nvSpPr>
        <p:spPr>
          <a:xfrm>
            <a:off x="5852160" y="1417320"/>
            <a:ext cx="173736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14213D"/>
                </a:solidFill>
                <a:latin typeface="Calibri"/>
              </a:rPr>
              <a:t>Output A</a:t>
            </a:r>
          </a:p>
        </p:txBody>
      </p:sp>
      <p:sp>
        <p:nvSpPr>
          <p:cNvPr id="9" name="Rounded Rectangle 8"/>
          <p:cNvSpPr/>
          <p:nvPr/>
        </p:nvSpPr>
        <p:spPr>
          <a:xfrm>
            <a:off x="5852160" y="2606040"/>
            <a:ext cx="173736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14213D"/>
                </a:solidFill>
                <a:latin typeface="Calibri"/>
              </a:rPr>
              <a:t>Output B</a:t>
            </a:r>
          </a:p>
        </p:txBody>
      </p:sp>
      <p:sp>
        <p:nvSpPr>
          <p:cNvPr id="10" name="Diamond 9"/>
          <p:cNvSpPr/>
          <p:nvPr/>
        </p:nvSpPr>
        <p:spPr>
          <a:xfrm>
            <a:off x="8183879" y="1737360"/>
            <a:ext cx="1645920" cy="1325880"/>
          </a:xfrm>
          <a:prstGeom prst="diamond">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i="0">
                <a:solidFill>
                  <a:srgbClr val="14213D"/>
                </a:solidFill>
                <a:latin typeface="Calibri"/>
              </a:rPr>
              <a:t>Match?</a:t>
            </a:r>
          </a:p>
        </p:txBody>
      </p:sp>
      <p:sp>
        <p:nvSpPr>
          <p:cNvPr id="11" name="Rounded Rectangle 10"/>
          <p:cNvSpPr/>
          <p:nvPr/>
        </p:nvSpPr>
        <p:spPr>
          <a:xfrm>
            <a:off x="10332720" y="2011680"/>
            <a:ext cx="1280160" cy="77724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i="0">
                <a:solidFill>
                  <a:srgbClr val="FFFFFF"/>
                </a:solidFill>
                <a:latin typeface="Calibri"/>
              </a:rPr>
              <a:t>Validated</a:t>
            </a:r>
          </a:p>
        </p:txBody>
      </p:sp>
      <p:cxnSp>
        <p:nvCxnSpPr>
          <p:cNvPr id="12" name="Connector 11"/>
          <p:cNvCxnSpPr/>
          <p:nvPr/>
        </p:nvCxnSpPr>
        <p:spPr>
          <a:xfrm flipV="1">
            <a:off x="2148840" y="1810512"/>
            <a:ext cx="548640" cy="338328"/>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148840" y="2423160"/>
            <a:ext cx="548640" cy="566928"/>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49240" y="1810512"/>
            <a:ext cx="45720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49240" y="2990088"/>
            <a:ext cx="45720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635240" y="1810512"/>
            <a:ext cx="868680" cy="338328"/>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635240" y="2651760"/>
            <a:ext cx="868680" cy="338328"/>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875520" y="2400300"/>
            <a:ext cx="41148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3886200"/>
            <a:ext cx="11064240" cy="457200"/>
          </a:xfrm>
          <a:prstGeom prst="rect">
            <a:avLst/>
          </a:prstGeom>
          <a:noFill/>
        </p:spPr>
        <p:txBody>
          <a:bodyPr wrap="square" anchor="t" lIns="0" rIns="0" tIns="0" bIns="0">
            <a:spAutoFit/>
          </a:bodyPr>
          <a:lstStyle/>
          <a:p>
            <a:pPr algn="l">
              <a:spcAft>
                <a:spcPts val="600"/>
              </a:spcAft>
            </a:pPr>
            <a:r>
              <a:rPr sz="2000" b="1" i="0">
                <a:solidFill>
                  <a:srgbClr val="14213D"/>
                </a:solidFill>
                <a:latin typeface="Calibri"/>
              </a:rPr>
              <a:t>Documentation deliverables</a:t>
            </a:r>
          </a:p>
        </p:txBody>
      </p:sp>
      <p:sp>
        <p:nvSpPr>
          <p:cNvPr id="20" name="Rounded Rectangle 19"/>
          <p:cNvSpPr/>
          <p:nvPr/>
        </p:nvSpPr>
        <p:spPr>
          <a:xfrm>
            <a:off x="548640" y="4480560"/>
            <a:ext cx="2560320" cy="14173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617720"/>
            <a:ext cx="2103120" cy="457200"/>
          </a:xfrm>
          <a:prstGeom prst="rect">
            <a:avLst/>
          </a:prstGeom>
          <a:noFill/>
        </p:spPr>
        <p:txBody>
          <a:bodyPr wrap="square" anchor="t" lIns="0" rIns="0" tIns="0" bIns="0">
            <a:spAutoFit/>
          </a:bodyPr>
          <a:lstStyle/>
          <a:p>
            <a:pPr algn="l">
              <a:spcAft>
                <a:spcPts val="600"/>
              </a:spcAft>
            </a:pPr>
            <a:r>
              <a:rPr sz="1600" b="1" i="0">
                <a:solidFill>
                  <a:srgbClr val="14213D"/>
                </a:solidFill>
                <a:latin typeface="Calibri"/>
              </a:rPr>
              <a:t>Technical report</a:t>
            </a:r>
          </a:p>
        </p:txBody>
      </p:sp>
      <p:sp>
        <p:nvSpPr>
          <p:cNvPr id="22" name="TextBox 21"/>
          <p:cNvSpPr txBox="1"/>
          <p:nvPr/>
        </p:nvSpPr>
        <p:spPr>
          <a:xfrm>
            <a:off x="777240" y="5074920"/>
            <a:ext cx="2103120" cy="73152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Goals, method and conclusions</a:t>
            </a:r>
          </a:p>
        </p:txBody>
      </p:sp>
      <p:sp>
        <p:nvSpPr>
          <p:cNvPr id="23" name="Rounded Rectangle 22"/>
          <p:cNvSpPr/>
          <p:nvPr/>
        </p:nvSpPr>
        <p:spPr>
          <a:xfrm>
            <a:off x="3383280" y="4480560"/>
            <a:ext cx="2560320" cy="14173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80" y="4617720"/>
            <a:ext cx="2103120" cy="457200"/>
          </a:xfrm>
          <a:prstGeom prst="rect">
            <a:avLst/>
          </a:prstGeom>
          <a:noFill/>
        </p:spPr>
        <p:txBody>
          <a:bodyPr wrap="square" anchor="t" lIns="0" rIns="0" tIns="0" bIns="0">
            <a:spAutoFit/>
          </a:bodyPr>
          <a:lstStyle/>
          <a:p>
            <a:pPr algn="l">
              <a:spcAft>
                <a:spcPts val="600"/>
              </a:spcAft>
            </a:pPr>
            <a:r>
              <a:rPr sz="1600" b="1" i="0">
                <a:solidFill>
                  <a:srgbClr val="14213D"/>
                </a:solidFill>
                <a:latin typeface="Calibri"/>
              </a:rPr>
              <a:t>Annotated database</a:t>
            </a:r>
          </a:p>
        </p:txBody>
      </p:sp>
      <p:sp>
        <p:nvSpPr>
          <p:cNvPr id="25" name="TextBox 24"/>
          <p:cNvSpPr txBox="1"/>
          <p:nvPr/>
        </p:nvSpPr>
        <p:spPr>
          <a:xfrm>
            <a:off x="3611880" y="5074920"/>
            <a:ext cx="2103120" cy="73152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Named functions and comments</a:t>
            </a:r>
          </a:p>
        </p:txBody>
      </p:sp>
      <p:sp>
        <p:nvSpPr>
          <p:cNvPr id="26" name="Rounded Rectangle 25"/>
          <p:cNvSpPr/>
          <p:nvPr/>
        </p:nvSpPr>
        <p:spPr>
          <a:xfrm>
            <a:off x="6217920" y="4480560"/>
            <a:ext cx="2560320" cy="14173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4617720"/>
            <a:ext cx="2103120" cy="457200"/>
          </a:xfrm>
          <a:prstGeom prst="rect">
            <a:avLst/>
          </a:prstGeom>
          <a:noFill/>
        </p:spPr>
        <p:txBody>
          <a:bodyPr wrap="square" anchor="t" lIns="0" rIns="0" tIns="0" bIns="0">
            <a:spAutoFit/>
          </a:bodyPr>
          <a:lstStyle/>
          <a:p>
            <a:pPr algn="l">
              <a:spcAft>
                <a:spcPts val="600"/>
              </a:spcAft>
            </a:pPr>
            <a:r>
              <a:rPr sz="1600" b="1" i="0">
                <a:solidFill>
                  <a:srgbClr val="14213D"/>
                </a:solidFill>
                <a:latin typeface="Calibri"/>
              </a:rPr>
              <a:t>Diagrams &amp; models</a:t>
            </a:r>
          </a:p>
        </p:txBody>
      </p:sp>
      <p:sp>
        <p:nvSpPr>
          <p:cNvPr id="28" name="TextBox 27"/>
          <p:cNvSpPr txBox="1"/>
          <p:nvPr/>
        </p:nvSpPr>
        <p:spPr>
          <a:xfrm>
            <a:off x="6446520" y="5074920"/>
            <a:ext cx="2103120" cy="73152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Call graphs, UML, data flow</a:t>
            </a:r>
          </a:p>
        </p:txBody>
      </p:sp>
      <p:sp>
        <p:nvSpPr>
          <p:cNvPr id="29" name="Rounded Rectangle 28"/>
          <p:cNvSpPr/>
          <p:nvPr/>
        </p:nvSpPr>
        <p:spPr>
          <a:xfrm>
            <a:off x="9052560" y="4480560"/>
            <a:ext cx="2560320" cy="14173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81160" y="4617720"/>
            <a:ext cx="2103120" cy="457200"/>
          </a:xfrm>
          <a:prstGeom prst="rect">
            <a:avLst/>
          </a:prstGeom>
          <a:noFill/>
        </p:spPr>
        <p:txBody>
          <a:bodyPr wrap="square" anchor="t" lIns="0" rIns="0" tIns="0" bIns="0">
            <a:spAutoFit/>
          </a:bodyPr>
          <a:lstStyle/>
          <a:p>
            <a:pPr algn="l">
              <a:spcAft>
                <a:spcPts val="600"/>
              </a:spcAft>
            </a:pPr>
            <a:r>
              <a:rPr sz="1600" b="1" i="0">
                <a:solidFill>
                  <a:srgbClr val="14213D"/>
                </a:solidFill>
                <a:latin typeface="Calibri"/>
              </a:rPr>
              <a:t>Reproducible scripts</a:t>
            </a:r>
          </a:p>
        </p:txBody>
      </p:sp>
      <p:sp>
        <p:nvSpPr>
          <p:cNvPr id="31" name="TextBox 30"/>
          <p:cNvSpPr txBox="1"/>
          <p:nvPr/>
        </p:nvSpPr>
        <p:spPr>
          <a:xfrm>
            <a:off x="9281160" y="5074920"/>
            <a:ext cx="2103120" cy="731520"/>
          </a:xfrm>
          <a:prstGeom prst="rect">
            <a:avLst/>
          </a:prstGeom>
          <a:noFill/>
        </p:spPr>
        <p:txBody>
          <a:bodyPr wrap="square" anchor="t" lIns="0" rIns="0" tIns="0" bIns="0">
            <a:spAutoFit/>
          </a:bodyPr>
          <a:lstStyle/>
          <a:p>
            <a:pPr algn="l">
              <a:spcAft>
                <a:spcPts val="600"/>
              </a:spcAft>
            </a:pPr>
            <a:r>
              <a:rPr sz="1400" b="0" i="0">
                <a:solidFill>
                  <a:srgbClr val="1F2937"/>
                </a:solidFill>
                <a:latin typeface="Calibri"/>
              </a:rPr>
              <a:t>Automation others can repeat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1371600"/>
            <a:ext cx="3657600" cy="1463040"/>
          </a:xfrm>
          <a:prstGeom prst="rect">
            <a:avLst/>
          </a:prstGeom>
          <a:noFill/>
        </p:spPr>
        <p:txBody>
          <a:bodyPr wrap="square" anchor="t" lIns="0" rIns="0" tIns="0" bIns="0">
            <a:spAutoFit/>
          </a:bodyPr>
          <a:lstStyle/>
          <a:p>
            <a:pPr algn="l">
              <a:spcAft>
                <a:spcPts val="600"/>
              </a:spcAft>
            </a:pPr>
            <a:r>
              <a:rPr sz="9600" b="1" i="0">
                <a:solidFill>
                  <a:srgbClr val="FCA311"/>
                </a:solidFill>
                <a:latin typeface="Cambria"/>
              </a:rPr>
              <a:t>02</a:t>
            </a:r>
          </a:p>
        </p:txBody>
      </p:sp>
      <p:sp>
        <p:nvSpPr>
          <p:cNvPr id="3" name="TextBox 2"/>
          <p:cNvSpPr txBox="1"/>
          <p:nvPr/>
        </p:nvSpPr>
        <p:spPr>
          <a:xfrm>
            <a:off x="731520" y="2926080"/>
            <a:ext cx="6035040" cy="1371600"/>
          </a:xfrm>
          <a:prstGeom prst="rect">
            <a:avLst/>
          </a:prstGeom>
          <a:noFill/>
        </p:spPr>
        <p:txBody>
          <a:bodyPr wrap="square" anchor="t" lIns="0" rIns="0" tIns="0" bIns="0">
            <a:spAutoFit/>
          </a:bodyPr>
          <a:lstStyle/>
          <a:p>
            <a:pPr algn="l">
              <a:spcAft>
                <a:spcPts val="600"/>
              </a:spcAft>
            </a:pPr>
            <a:r>
              <a:rPr sz="4000" b="1" i="0">
                <a:solidFill>
                  <a:srgbClr val="FFFFFF"/>
                </a:solidFill>
                <a:latin typeface="Cambria"/>
              </a:rPr>
              <a:t>Reverse Engineering on GitHub</a:t>
            </a:r>
          </a:p>
        </p:txBody>
      </p:sp>
      <p:sp>
        <p:nvSpPr>
          <p:cNvPr id="4" name="TextBox 3"/>
          <p:cNvSpPr txBox="1"/>
          <p:nvPr/>
        </p:nvSpPr>
        <p:spPr>
          <a:xfrm>
            <a:off x="731520" y="4343400"/>
            <a:ext cx="5852160" cy="914400"/>
          </a:xfrm>
          <a:prstGeom prst="rect">
            <a:avLst/>
          </a:prstGeom>
          <a:noFill/>
        </p:spPr>
        <p:txBody>
          <a:bodyPr wrap="square" anchor="t" lIns="0" rIns="0" tIns="0" bIns="0">
            <a:spAutoFit/>
          </a:bodyPr>
          <a:lstStyle/>
          <a:p>
            <a:pPr algn="l">
              <a:spcAft>
                <a:spcPts val="600"/>
              </a:spcAft>
            </a:pPr>
            <a:r>
              <a:rPr sz="1800" b="0" i="0">
                <a:solidFill>
                  <a:srgbClr val="C9D3E3"/>
                </a:solidFill>
                <a:latin typeface="Calibri"/>
              </a:rPr>
              <a:t>Version control and collaboration for analysis projects</a:t>
            </a:r>
          </a:p>
        </p:txBody>
      </p:sp>
      <p:sp>
        <p:nvSpPr>
          <p:cNvPr id="5" name="Oval 4"/>
          <p:cNvSpPr/>
          <p:nvPr/>
        </p:nvSpPr>
        <p:spPr>
          <a:xfrm>
            <a:off x="7680960" y="141732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1</a:t>
            </a:r>
          </a:p>
        </p:txBody>
      </p:sp>
      <p:sp>
        <p:nvSpPr>
          <p:cNvPr id="6" name="TextBox 5"/>
          <p:cNvSpPr txBox="1"/>
          <p:nvPr/>
        </p:nvSpPr>
        <p:spPr>
          <a:xfrm>
            <a:off x="8412480" y="141732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Repository structure</a:t>
            </a:r>
          </a:p>
        </p:txBody>
      </p:sp>
      <p:sp>
        <p:nvSpPr>
          <p:cNvPr id="7" name="Oval 6"/>
          <p:cNvSpPr/>
          <p:nvPr/>
        </p:nvSpPr>
        <p:spPr>
          <a:xfrm>
            <a:off x="7680960" y="242316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2</a:t>
            </a:r>
          </a:p>
        </p:txBody>
      </p:sp>
      <p:sp>
        <p:nvSpPr>
          <p:cNvPr id="8" name="TextBox 7"/>
          <p:cNvSpPr txBox="1"/>
          <p:nvPr/>
        </p:nvSpPr>
        <p:spPr>
          <a:xfrm>
            <a:off x="8412480" y="242316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Collaborative workflow</a:t>
            </a:r>
          </a:p>
        </p:txBody>
      </p:sp>
      <p:sp>
        <p:nvSpPr>
          <p:cNvPr id="9" name="Oval 8"/>
          <p:cNvSpPr/>
          <p:nvPr/>
        </p:nvSpPr>
        <p:spPr>
          <a:xfrm>
            <a:off x="7680960" y="342900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3</a:t>
            </a:r>
          </a:p>
        </p:txBody>
      </p:sp>
      <p:sp>
        <p:nvSpPr>
          <p:cNvPr id="10" name="TextBox 9"/>
          <p:cNvSpPr txBox="1"/>
          <p:nvPr/>
        </p:nvSpPr>
        <p:spPr>
          <a:xfrm>
            <a:off x="8412480" y="342900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Open-source tools</a:t>
            </a:r>
          </a:p>
        </p:txBody>
      </p:sp>
      <p:sp>
        <p:nvSpPr>
          <p:cNvPr id="11" name="Oval 10"/>
          <p:cNvSpPr/>
          <p:nvPr/>
        </p:nvSpPr>
        <p:spPr>
          <a:xfrm>
            <a:off x="7680960" y="4434840"/>
            <a:ext cx="502920" cy="50292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CA311"/>
                </a:solidFill>
                <a:latin typeface="Cambria"/>
              </a:rPr>
              <a:t>4</a:t>
            </a:r>
          </a:p>
        </p:txBody>
      </p:sp>
      <p:sp>
        <p:nvSpPr>
          <p:cNvPr id="12" name="TextBox 11"/>
          <p:cNvSpPr txBox="1"/>
          <p:nvPr/>
        </p:nvSpPr>
        <p:spPr>
          <a:xfrm>
            <a:off x="8412480" y="4434840"/>
            <a:ext cx="3291840" cy="5029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Legal &amp; ethical rules</a:t>
            </a:r>
          </a:p>
        </p:txBody>
      </p:sp>
      <p:cxnSp>
        <p:nvCxnSpPr>
          <p:cNvPr id="13" name="Connector 12"/>
          <p:cNvCxnSpPr/>
          <p:nvPr/>
        </p:nvCxnSpPr>
        <p:spPr>
          <a:xfrm>
            <a:off x="7932420" y="1965960"/>
            <a:ext cx="0" cy="411480"/>
          </a:xfrm>
          <a:prstGeom prst="line">
            <a:avLst/>
          </a:prstGeom>
          <a:ln w="15875">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32420" y="2971800"/>
            <a:ext cx="0" cy="411480"/>
          </a:xfrm>
          <a:prstGeom prst="line">
            <a:avLst/>
          </a:prstGeom>
          <a:ln w="15875">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32420" y="3977639"/>
            <a:ext cx="0" cy="411481"/>
          </a:xfrm>
          <a:prstGeom prst="line">
            <a:avLst/>
          </a:prstGeom>
          <a:ln w="15875">
            <a:solidFill>
              <a:srgbClr val="FCA3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C9D3E3"/>
                </a:solidFill>
                <a:latin typeface="Calibri"/>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Organising an RE Project Repository</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15 / 20</a:t>
            </a:r>
          </a:p>
        </p:txBody>
      </p:sp>
      <p:sp>
        <p:nvSpPr>
          <p:cNvPr id="5" name="Rounded Rectangle 4"/>
          <p:cNvSpPr/>
          <p:nvPr/>
        </p:nvSpPr>
        <p:spPr>
          <a:xfrm>
            <a:off x="548640" y="1463040"/>
            <a:ext cx="5212080" cy="4526280"/>
          </a:xfrm>
          <a:prstGeom prst="roundRect">
            <a:avLst>
              <a:gd name="adj" fmla="val 4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91640"/>
            <a:ext cx="4754880" cy="4114800"/>
          </a:xfrm>
          <a:prstGeom prst="rect">
            <a:avLst/>
          </a:prstGeom>
          <a:noFill/>
        </p:spPr>
        <p:txBody>
          <a:bodyPr wrap="square" anchor="t" lIns="0" rIns="0" tIns="0" bIns="0">
            <a:spAutoFit/>
          </a:bodyPr>
          <a:lstStyle/>
          <a:p>
            <a:pPr algn="l">
              <a:spcAft>
                <a:spcPts val="300"/>
              </a:spcAft>
            </a:pPr>
            <a:r>
              <a:rPr sz="1500" b="0" i="0">
                <a:solidFill>
                  <a:srgbClr val="FCA311"/>
                </a:solidFill>
                <a:latin typeface="Courier New"/>
              </a:rPr>
              <a:t>re-project/</a:t>
            </a:r>
          </a:p>
          <a:p>
            <a:pPr algn="l">
              <a:spcAft>
                <a:spcPts val="300"/>
              </a:spcAft>
            </a:pPr>
            <a:r>
              <a:rPr sz="1500" b="0" i="0">
                <a:solidFill>
                  <a:srgbClr val="FFFFFF"/>
                </a:solidFill>
                <a:latin typeface="Courier New"/>
              </a:rPr>
              <a:t>├── README.md</a:t>
            </a:r>
          </a:p>
          <a:p>
            <a:pPr algn="l">
              <a:spcAft>
                <a:spcPts val="300"/>
              </a:spcAft>
            </a:pPr>
            <a:r>
              <a:rPr sz="1500" b="0" i="0">
                <a:solidFill>
                  <a:srgbClr val="FFFFFF"/>
                </a:solidFill>
                <a:latin typeface="Courier New"/>
              </a:rPr>
              <a:t>├── samples/     # hashes only</a:t>
            </a:r>
          </a:p>
          <a:p>
            <a:pPr algn="l">
              <a:spcAft>
                <a:spcPts val="300"/>
              </a:spcAft>
            </a:pPr>
            <a:r>
              <a:rPr sz="1500" b="0" i="0">
                <a:solidFill>
                  <a:srgbClr val="FFFFFF"/>
                </a:solidFill>
                <a:latin typeface="Courier New"/>
              </a:rPr>
              <a:t>├── analysis/</a:t>
            </a:r>
          </a:p>
          <a:p>
            <a:pPr algn="l">
              <a:spcAft>
                <a:spcPts val="300"/>
              </a:spcAft>
            </a:pPr>
            <a:r>
              <a:rPr sz="1500" b="0" i="0">
                <a:solidFill>
                  <a:srgbClr val="FFFFFF"/>
                </a:solidFill>
                <a:latin typeface="Courier New"/>
              </a:rPr>
              <a:t>│   ├── ghidra/</a:t>
            </a:r>
          </a:p>
          <a:p>
            <a:pPr algn="l">
              <a:spcAft>
                <a:spcPts val="300"/>
              </a:spcAft>
            </a:pPr>
            <a:r>
              <a:rPr sz="1500" b="0" i="0">
                <a:solidFill>
                  <a:srgbClr val="FFFFFF"/>
                </a:solidFill>
                <a:latin typeface="Courier New"/>
              </a:rPr>
              <a:t>│   └── notes/</a:t>
            </a:r>
          </a:p>
          <a:p>
            <a:pPr algn="l">
              <a:spcAft>
                <a:spcPts val="300"/>
              </a:spcAft>
            </a:pPr>
            <a:r>
              <a:rPr sz="1500" b="0" i="0">
                <a:solidFill>
                  <a:srgbClr val="FFFFFF"/>
                </a:solidFill>
                <a:latin typeface="Courier New"/>
              </a:rPr>
              <a:t>├── scripts/</a:t>
            </a:r>
          </a:p>
          <a:p>
            <a:pPr algn="l">
              <a:spcAft>
                <a:spcPts val="300"/>
              </a:spcAft>
            </a:pPr>
            <a:r>
              <a:rPr sz="1500" b="0" i="0">
                <a:solidFill>
                  <a:srgbClr val="FFFFFF"/>
                </a:solidFill>
                <a:latin typeface="Courier New"/>
              </a:rPr>
              <a:t>├── docs/diagrams/</a:t>
            </a:r>
          </a:p>
          <a:p>
            <a:pPr algn="l">
              <a:spcAft>
                <a:spcPts val="300"/>
              </a:spcAft>
            </a:pPr>
            <a:r>
              <a:rPr sz="1500" b="0" i="0">
                <a:solidFill>
                  <a:srgbClr val="FFFFFF"/>
                </a:solidFill>
                <a:latin typeface="Courier New"/>
              </a:rPr>
              <a:t>├── tests/</a:t>
            </a:r>
          </a:p>
          <a:p>
            <a:pPr algn="l">
              <a:spcAft>
                <a:spcPts val="300"/>
              </a:spcAft>
            </a:pPr>
            <a:r>
              <a:rPr sz="1500" b="0" i="0">
                <a:solidFill>
                  <a:srgbClr val="FFFFFF"/>
                </a:solidFill>
                <a:latin typeface="Courier New"/>
              </a:rPr>
              <a:t>└── .github/workflows/</a:t>
            </a:r>
          </a:p>
        </p:txBody>
      </p:sp>
      <p:sp>
        <p:nvSpPr>
          <p:cNvPr id="7" name="Rounded Rectangle 6"/>
          <p:cNvSpPr/>
          <p:nvPr/>
        </p:nvSpPr>
        <p:spPr>
          <a:xfrm>
            <a:off x="6217920" y="1463040"/>
            <a:ext cx="5394960" cy="987552"/>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46520" y="1700784"/>
            <a:ext cx="502920" cy="5029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1</a:t>
            </a:r>
          </a:p>
        </p:txBody>
      </p:sp>
      <p:sp>
        <p:nvSpPr>
          <p:cNvPr id="9" name="TextBox 8"/>
          <p:cNvSpPr txBox="1"/>
          <p:nvPr/>
        </p:nvSpPr>
        <p:spPr>
          <a:xfrm>
            <a:off x="7178040" y="1554480"/>
            <a:ext cx="4297680" cy="822960"/>
          </a:xfrm>
          <a:prstGeom prst="rect">
            <a:avLst/>
          </a:prstGeom>
          <a:noFill/>
        </p:spPr>
        <p:txBody>
          <a:bodyPr wrap="square" anchor="ctr" lIns="0" rIns="0" tIns="0" bIns="0">
            <a:spAutoFit/>
          </a:bodyPr>
          <a:lstStyle/>
          <a:p>
            <a:pPr algn="l">
              <a:spcAft>
                <a:spcPts val="0"/>
              </a:spcAft>
            </a:pPr>
            <a:r>
              <a:rPr sz="1600" b="1" i="0">
                <a:solidFill>
                  <a:srgbClr val="14213D"/>
                </a:solidFill>
                <a:latin typeface="Calibri"/>
              </a:rPr>
              <a:t>Version history</a:t>
            </a:r>
          </a:p>
          <a:p>
            <a:pPr algn="l">
              <a:spcAft>
                <a:spcPts val="0"/>
              </a:spcAft>
            </a:pPr>
            <a:r>
              <a:rPr sz="1300" b="0" i="0">
                <a:solidFill>
                  <a:srgbClr val="1F2937"/>
                </a:solidFill>
                <a:latin typeface="Calibri"/>
              </a:rPr>
              <a:t>Every finding and correction is tracked with Git commits.</a:t>
            </a:r>
          </a:p>
        </p:txBody>
      </p:sp>
      <p:sp>
        <p:nvSpPr>
          <p:cNvPr id="10" name="Rounded Rectangle 9"/>
          <p:cNvSpPr/>
          <p:nvPr/>
        </p:nvSpPr>
        <p:spPr>
          <a:xfrm>
            <a:off x="6217920" y="2624328"/>
            <a:ext cx="5394960" cy="987552"/>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2862072"/>
            <a:ext cx="502920" cy="5029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2</a:t>
            </a:r>
          </a:p>
        </p:txBody>
      </p:sp>
      <p:sp>
        <p:nvSpPr>
          <p:cNvPr id="12" name="TextBox 11"/>
          <p:cNvSpPr txBox="1"/>
          <p:nvPr/>
        </p:nvSpPr>
        <p:spPr>
          <a:xfrm>
            <a:off x="7178040" y="2715768"/>
            <a:ext cx="4297680" cy="822960"/>
          </a:xfrm>
          <a:prstGeom prst="rect">
            <a:avLst/>
          </a:prstGeom>
          <a:noFill/>
        </p:spPr>
        <p:txBody>
          <a:bodyPr wrap="square" anchor="ctr" lIns="0" rIns="0" tIns="0" bIns="0">
            <a:spAutoFit/>
          </a:bodyPr>
          <a:lstStyle/>
          <a:p>
            <a:pPr algn="l">
              <a:spcAft>
                <a:spcPts val="0"/>
              </a:spcAft>
            </a:pPr>
            <a:r>
              <a:rPr sz="1600" b="1" i="0">
                <a:solidFill>
                  <a:srgbClr val="14213D"/>
                </a:solidFill>
                <a:latin typeface="Calibri"/>
              </a:rPr>
              <a:t>Collaboration</a:t>
            </a:r>
          </a:p>
          <a:p>
            <a:pPr algn="l">
              <a:spcAft>
                <a:spcPts val="0"/>
              </a:spcAft>
            </a:pPr>
            <a:r>
              <a:rPr sz="1300" b="0" i="0">
                <a:solidFill>
                  <a:srgbClr val="1F2937"/>
                </a:solidFill>
                <a:latin typeface="Calibri"/>
              </a:rPr>
              <a:t>Issues assign tasks; pull requests let peers review results.</a:t>
            </a:r>
          </a:p>
        </p:txBody>
      </p:sp>
      <p:sp>
        <p:nvSpPr>
          <p:cNvPr id="13" name="Rounded Rectangle 12"/>
          <p:cNvSpPr/>
          <p:nvPr/>
        </p:nvSpPr>
        <p:spPr>
          <a:xfrm>
            <a:off x="6217920" y="3785616"/>
            <a:ext cx="5394960" cy="987552"/>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6520" y="4023360"/>
            <a:ext cx="502920" cy="5029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CA311"/>
                </a:solidFill>
                <a:latin typeface="Cambria"/>
              </a:rPr>
              <a:t>3</a:t>
            </a:r>
          </a:p>
        </p:txBody>
      </p:sp>
      <p:sp>
        <p:nvSpPr>
          <p:cNvPr id="15" name="TextBox 14"/>
          <p:cNvSpPr txBox="1"/>
          <p:nvPr/>
        </p:nvSpPr>
        <p:spPr>
          <a:xfrm>
            <a:off x="7178040" y="3877056"/>
            <a:ext cx="4297680" cy="822960"/>
          </a:xfrm>
          <a:prstGeom prst="rect">
            <a:avLst/>
          </a:prstGeom>
          <a:noFill/>
        </p:spPr>
        <p:txBody>
          <a:bodyPr wrap="square" anchor="ctr" lIns="0" rIns="0" tIns="0" bIns="0">
            <a:spAutoFit/>
          </a:bodyPr>
          <a:lstStyle/>
          <a:p>
            <a:pPr algn="l">
              <a:spcAft>
                <a:spcPts val="0"/>
              </a:spcAft>
            </a:pPr>
            <a:r>
              <a:rPr sz="1600" b="1" i="0">
                <a:solidFill>
                  <a:srgbClr val="14213D"/>
                </a:solidFill>
                <a:latin typeface="Calibri"/>
              </a:rPr>
              <a:t>Automation</a:t>
            </a:r>
          </a:p>
          <a:p>
            <a:pPr algn="l">
              <a:spcAft>
                <a:spcPts val="0"/>
              </a:spcAft>
            </a:pPr>
            <a:r>
              <a:rPr sz="1300" b="0" i="0">
                <a:solidFill>
                  <a:srgbClr val="1F2937"/>
                </a:solidFill>
                <a:latin typeface="Calibri"/>
              </a:rPr>
              <a:t>GitHub Actions re-run analysis scripts and tests on every change.</a:t>
            </a:r>
          </a:p>
        </p:txBody>
      </p:sp>
      <p:sp>
        <p:nvSpPr>
          <p:cNvPr id="16" name="Rounded Rectangle 15"/>
          <p:cNvSpPr/>
          <p:nvPr/>
        </p:nvSpPr>
        <p:spPr>
          <a:xfrm>
            <a:off x="6217920" y="4946904"/>
            <a:ext cx="5394960" cy="987552"/>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184648"/>
            <a:ext cx="502920" cy="50292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4213D"/>
                </a:solidFill>
                <a:latin typeface="Cambria"/>
              </a:rPr>
              <a:t>4</a:t>
            </a:r>
          </a:p>
        </p:txBody>
      </p:sp>
      <p:sp>
        <p:nvSpPr>
          <p:cNvPr id="18" name="TextBox 17"/>
          <p:cNvSpPr txBox="1"/>
          <p:nvPr/>
        </p:nvSpPr>
        <p:spPr>
          <a:xfrm>
            <a:off x="7178040" y="5038344"/>
            <a:ext cx="4297680" cy="822960"/>
          </a:xfrm>
          <a:prstGeom prst="rect">
            <a:avLst/>
          </a:prstGeom>
          <a:noFill/>
        </p:spPr>
        <p:txBody>
          <a:bodyPr wrap="square" anchor="ctr" lIns="0" rIns="0" tIns="0" bIns="0">
            <a:spAutoFit/>
          </a:bodyPr>
          <a:lstStyle/>
          <a:p>
            <a:pPr algn="l">
              <a:spcAft>
                <a:spcPts val="0"/>
              </a:spcAft>
            </a:pPr>
            <a:r>
              <a:rPr sz="1600" b="1" i="0">
                <a:solidFill>
                  <a:srgbClr val="14213D"/>
                </a:solidFill>
                <a:latin typeface="Calibri"/>
              </a:rPr>
              <a:t>Safety first</a:t>
            </a:r>
          </a:p>
          <a:p>
            <a:pPr algn="l">
              <a:spcAft>
                <a:spcPts val="0"/>
              </a:spcAft>
            </a:pPr>
            <a:r>
              <a:rPr sz="1300" b="0" i="0">
                <a:solidFill>
                  <a:srgbClr val="1F2937"/>
                </a:solidFill>
                <a:latin typeface="Calibri"/>
              </a:rPr>
              <a:t>Never commit live malware, secrets or proprietary binaries — store hashes.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GitHub Collaboration Workflow</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16 / 20</a:t>
            </a:r>
          </a:p>
        </p:txBody>
      </p:sp>
      <p:cxnSp>
        <p:nvCxnSpPr>
          <p:cNvPr id="5" name="Connector 4"/>
          <p:cNvCxnSpPr/>
          <p:nvPr/>
        </p:nvCxnSpPr>
        <p:spPr>
          <a:xfrm>
            <a:off x="731520" y="2697480"/>
            <a:ext cx="10698480" cy="0"/>
          </a:xfrm>
          <a:prstGeom prst="line">
            <a:avLst/>
          </a:prstGeom>
          <a:ln w="38100">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2103120" y="1783080"/>
            <a:ext cx="731520" cy="914400"/>
          </a:xfrm>
          <a:prstGeom prst="line">
            <a:avLst/>
          </a:prstGeom>
          <a:ln w="38100">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34640" y="1783080"/>
            <a:ext cx="6217920" cy="0"/>
          </a:xfrm>
          <a:prstGeom prst="line">
            <a:avLst/>
          </a:prstGeom>
          <a:ln w="38100">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52560" y="1783080"/>
            <a:ext cx="731520" cy="914400"/>
          </a:xfrm>
          <a:prstGeom prst="line">
            <a:avLst/>
          </a:prstGeom>
          <a:ln w="38100">
            <a:solidFill>
              <a:srgbClr val="2A9D8F"/>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41832" y="2542032"/>
            <a:ext cx="310896" cy="310896"/>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
            </a:r>
          </a:p>
        </p:txBody>
      </p:sp>
      <p:sp>
        <p:nvSpPr>
          <p:cNvPr id="10" name="Oval 9"/>
          <p:cNvSpPr/>
          <p:nvPr/>
        </p:nvSpPr>
        <p:spPr>
          <a:xfrm>
            <a:off x="1947672" y="2542032"/>
            <a:ext cx="310896" cy="310896"/>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
            </a:r>
          </a:p>
        </p:txBody>
      </p:sp>
      <p:sp>
        <p:nvSpPr>
          <p:cNvPr id="11" name="Oval 10"/>
          <p:cNvSpPr/>
          <p:nvPr/>
        </p:nvSpPr>
        <p:spPr>
          <a:xfrm>
            <a:off x="9628632" y="2542032"/>
            <a:ext cx="310896" cy="310896"/>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
            </a:r>
          </a:p>
        </p:txBody>
      </p:sp>
      <p:sp>
        <p:nvSpPr>
          <p:cNvPr id="12" name="Oval 11"/>
          <p:cNvSpPr/>
          <p:nvPr/>
        </p:nvSpPr>
        <p:spPr>
          <a:xfrm>
            <a:off x="10817352" y="2542032"/>
            <a:ext cx="310896" cy="310896"/>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
            </a:r>
          </a:p>
        </p:txBody>
      </p:sp>
      <p:sp>
        <p:nvSpPr>
          <p:cNvPr id="13" name="Oval 12"/>
          <p:cNvSpPr/>
          <p:nvPr/>
        </p:nvSpPr>
        <p:spPr>
          <a:xfrm>
            <a:off x="3867912" y="1627632"/>
            <a:ext cx="310896" cy="31089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
            </a:r>
          </a:p>
        </p:txBody>
      </p:sp>
      <p:sp>
        <p:nvSpPr>
          <p:cNvPr id="14" name="TextBox 13"/>
          <p:cNvSpPr txBox="1"/>
          <p:nvPr/>
        </p:nvSpPr>
        <p:spPr>
          <a:xfrm>
            <a:off x="3108960" y="1188720"/>
            <a:ext cx="1828800" cy="365760"/>
          </a:xfrm>
          <a:prstGeom prst="rect">
            <a:avLst/>
          </a:prstGeom>
          <a:noFill/>
        </p:spPr>
        <p:txBody>
          <a:bodyPr wrap="square" anchor="t" lIns="0" rIns="0" tIns="0" bIns="0">
            <a:spAutoFit/>
          </a:bodyPr>
          <a:lstStyle/>
          <a:p>
            <a:pPr algn="ctr">
              <a:spcAft>
                <a:spcPts val="600"/>
              </a:spcAft>
            </a:pPr>
            <a:r>
              <a:rPr sz="1100" b="0" i="0">
                <a:solidFill>
                  <a:srgbClr val="2A9D8F"/>
                </a:solidFill>
                <a:latin typeface="Calibri"/>
              </a:rPr>
              <a:t>commit: strings</a:t>
            </a:r>
          </a:p>
        </p:txBody>
      </p:sp>
      <p:sp>
        <p:nvSpPr>
          <p:cNvPr id="15" name="Oval 14"/>
          <p:cNvSpPr/>
          <p:nvPr/>
        </p:nvSpPr>
        <p:spPr>
          <a:xfrm>
            <a:off x="5788152" y="1627632"/>
            <a:ext cx="310896" cy="31089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
            </a:r>
          </a:p>
        </p:txBody>
      </p:sp>
      <p:sp>
        <p:nvSpPr>
          <p:cNvPr id="16" name="TextBox 15"/>
          <p:cNvSpPr txBox="1"/>
          <p:nvPr/>
        </p:nvSpPr>
        <p:spPr>
          <a:xfrm>
            <a:off x="5029200" y="1188720"/>
            <a:ext cx="1828800" cy="365760"/>
          </a:xfrm>
          <a:prstGeom prst="rect">
            <a:avLst/>
          </a:prstGeom>
          <a:noFill/>
        </p:spPr>
        <p:txBody>
          <a:bodyPr wrap="square" anchor="t" lIns="0" rIns="0" tIns="0" bIns="0">
            <a:spAutoFit/>
          </a:bodyPr>
          <a:lstStyle/>
          <a:p>
            <a:pPr algn="ctr">
              <a:spcAft>
                <a:spcPts val="600"/>
              </a:spcAft>
            </a:pPr>
            <a:r>
              <a:rPr sz="1100" b="0" i="0">
                <a:solidFill>
                  <a:srgbClr val="2A9D8F"/>
                </a:solidFill>
                <a:latin typeface="Calibri"/>
              </a:rPr>
              <a:t>commit: call graph</a:t>
            </a:r>
          </a:p>
        </p:txBody>
      </p:sp>
      <p:sp>
        <p:nvSpPr>
          <p:cNvPr id="17" name="Oval 16"/>
          <p:cNvSpPr/>
          <p:nvPr/>
        </p:nvSpPr>
        <p:spPr>
          <a:xfrm>
            <a:off x="7708392" y="1627632"/>
            <a:ext cx="310896" cy="31089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
            </a:r>
          </a:p>
        </p:txBody>
      </p:sp>
      <p:sp>
        <p:nvSpPr>
          <p:cNvPr id="18" name="TextBox 17"/>
          <p:cNvSpPr txBox="1"/>
          <p:nvPr/>
        </p:nvSpPr>
        <p:spPr>
          <a:xfrm>
            <a:off x="6949440" y="1188720"/>
            <a:ext cx="1828800" cy="365760"/>
          </a:xfrm>
          <a:prstGeom prst="rect">
            <a:avLst/>
          </a:prstGeom>
          <a:noFill/>
        </p:spPr>
        <p:txBody>
          <a:bodyPr wrap="square" anchor="t" lIns="0" rIns="0" tIns="0" bIns="0">
            <a:spAutoFit/>
          </a:bodyPr>
          <a:lstStyle/>
          <a:p>
            <a:pPr algn="ctr">
              <a:spcAft>
                <a:spcPts val="600"/>
              </a:spcAft>
            </a:pPr>
            <a:r>
              <a:rPr sz="1100" b="0" i="0">
                <a:solidFill>
                  <a:srgbClr val="2A9D8F"/>
                </a:solidFill>
                <a:latin typeface="Calibri"/>
              </a:rPr>
              <a:t>commit: report</a:t>
            </a:r>
          </a:p>
        </p:txBody>
      </p:sp>
      <p:sp>
        <p:nvSpPr>
          <p:cNvPr id="19" name="TextBox 18"/>
          <p:cNvSpPr txBox="1"/>
          <p:nvPr/>
        </p:nvSpPr>
        <p:spPr>
          <a:xfrm>
            <a:off x="731520" y="2834640"/>
            <a:ext cx="1371600" cy="320040"/>
          </a:xfrm>
          <a:prstGeom prst="rect">
            <a:avLst/>
          </a:prstGeom>
          <a:noFill/>
        </p:spPr>
        <p:txBody>
          <a:bodyPr wrap="square" anchor="t" lIns="0" rIns="0" tIns="0" bIns="0">
            <a:spAutoFit/>
          </a:bodyPr>
          <a:lstStyle/>
          <a:p>
            <a:pPr algn="l">
              <a:spcAft>
                <a:spcPts val="600"/>
              </a:spcAft>
            </a:pPr>
            <a:r>
              <a:rPr sz="1200" b="1" i="0">
                <a:solidFill>
                  <a:srgbClr val="14213D"/>
                </a:solidFill>
                <a:latin typeface="Calibri"/>
              </a:rPr>
              <a:t>main</a:t>
            </a:r>
          </a:p>
        </p:txBody>
      </p:sp>
      <p:sp>
        <p:nvSpPr>
          <p:cNvPr id="20" name="TextBox 19"/>
          <p:cNvSpPr txBox="1"/>
          <p:nvPr/>
        </p:nvSpPr>
        <p:spPr>
          <a:xfrm>
            <a:off x="3017520" y="2057400"/>
            <a:ext cx="3200400" cy="320040"/>
          </a:xfrm>
          <a:prstGeom prst="rect">
            <a:avLst/>
          </a:prstGeom>
          <a:noFill/>
        </p:spPr>
        <p:txBody>
          <a:bodyPr wrap="square" anchor="t" lIns="0" rIns="0" tIns="0" bIns="0">
            <a:spAutoFit/>
          </a:bodyPr>
          <a:lstStyle/>
          <a:p>
            <a:pPr algn="l">
              <a:spcAft>
                <a:spcPts val="600"/>
              </a:spcAft>
            </a:pPr>
            <a:r>
              <a:rPr sz="1100" b="0" i="0">
                <a:solidFill>
                  <a:srgbClr val="2A9D8F"/>
                </a:solidFill>
                <a:latin typeface="Courier New"/>
              </a:rPr>
              <a:t>feature/analyse-protocol</a:t>
            </a:r>
          </a:p>
        </p:txBody>
      </p:sp>
      <p:sp>
        <p:nvSpPr>
          <p:cNvPr id="21" name="TextBox 20"/>
          <p:cNvSpPr txBox="1"/>
          <p:nvPr/>
        </p:nvSpPr>
        <p:spPr>
          <a:xfrm>
            <a:off x="8595360" y="2834640"/>
            <a:ext cx="2377440" cy="320040"/>
          </a:xfrm>
          <a:prstGeom prst="rect">
            <a:avLst/>
          </a:prstGeom>
          <a:noFill/>
        </p:spPr>
        <p:txBody>
          <a:bodyPr wrap="square" anchor="t" lIns="0" rIns="0" tIns="0" bIns="0">
            <a:spAutoFit/>
          </a:bodyPr>
          <a:lstStyle/>
          <a:p>
            <a:pPr algn="ctr">
              <a:spcAft>
                <a:spcPts val="600"/>
              </a:spcAft>
            </a:pPr>
            <a:r>
              <a:rPr sz="1100" b="0" i="0">
                <a:solidFill>
                  <a:srgbClr val="14213D"/>
                </a:solidFill>
                <a:latin typeface="Calibri"/>
              </a:rPr>
              <a:t>pull request merged</a:t>
            </a:r>
          </a:p>
        </p:txBody>
      </p:sp>
      <p:sp>
        <p:nvSpPr>
          <p:cNvPr id="22" name="Rounded Rectangle 21"/>
          <p:cNvSpPr/>
          <p:nvPr/>
        </p:nvSpPr>
        <p:spPr>
          <a:xfrm>
            <a:off x="548640" y="3611880"/>
            <a:ext cx="2029968" cy="23317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77240" y="384048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CA311"/>
                </a:solidFill>
                <a:latin typeface="Cambria"/>
              </a:rPr>
              <a:t>1</a:t>
            </a:r>
          </a:p>
        </p:txBody>
      </p:sp>
      <p:sp>
        <p:nvSpPr>
          <p:cNvPr id="24" name="TextBox 23"/>
          <p:cNvSpPr txBox="1"/>
          <p:nvPr/>
        </p:nvSpPr>
        <p:spPr>
          <a:xfrm>
            <a:off x="777240" y="4434840"/>
            <a:ext cx="1691640" cy="457200"/>
          </a:xfrm>
          <a:prstGeom prst="rect">
            <a:avLst/>
          </a:prstGeom>
          <a:noFill/>
        </p:spPr>
        <p:txBody>
          <a:bodyPr wrap="square" anchor="t" lIns="0" rIns="0" tIns="0" bIns="0">
            <a:spAutoFit/>
          </a:bodyPr>
          <a:lstStyle/>
          <a:p>
            <a:pPr algn="l">
              <a:spcAft>
                <a:spcPts val="600"/>
              </a:spcAft>
            </a:pPr>
            <a:r>
              <a:rPr sz="1500" b="1" i="0">
                <a:solidFill>
                  <a:srgbClr val="14213D"/>
                </a:solidFill>
                <a:latin typeface="Calibri"/>
              </a:rPr>
              <a:t>Open an issue</a:t>
            </a:r>
          </a:p>
        </p:txBody>
      </p:sp>
      <p:sp>
        <p:nvSpPr>
          <p:cNvPr id="25" name="TextBox 24"/>
          <p:cNvSpPr txBox="1"/>
          <p:nvPr/>
        </p:nvSpPr>
        <p:spPr>
          <a:xfrm>
            <a:off x="777240" y="4892040"/>
            <a:ext cx="1691640" cy="1005840"/>
          </a:xfrm>
          <a:prstGeom prst="rect">
            <a:avLst/>
          </a:prstGeom>
          <a:noFill/>
        </p:spPr>
        <p:txBody>
          <a:bodyPr wrap="square" anchor="t" lIns="0" rIns="0" tIns="0" bIns="0">
            <a:spAutoFit/>
          </a:bodyPr>
          <a:lstStyle/>
          <a:p>
            <a:pPr algn="l">
              <a:spcAft>
                <a:spcPts val="600"/>
              </a:spcAft>
            </a:pPr>
            <a:r>
              <a:rPr sz="1300" b="0" i="0">
                <a:solidFill>
                  <a:srgbClr val="1F2937"/>
                </a:solidFill>
                <a:latin typeface="Calibri"/>
              </a:rPr>
              <a:t>Describe the analysis task and its goal</a:t>
            </a:r>
          </a:p>
        </p:txBody>
      </p:sp>
      <p:sp>
        <p:nvSpPr>
          <p:cNvPr id="26" name="Rounded Rectangle 25"/>
          <p:cNvSpPr/>
          <p:nvPr/>
        </p:nvSpPr>
        <p:spPr>
          <a:xfrm>
            <a:off x="2807208" y="3611880"/>
            <a:ext cx="2029968" cy="23317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035808" y="384048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CA311"/>
                </a:solidFill>
                <a:latin typeface="Cambria"/>
              </a:rPr>
              <a:t>2</a:t>
            </a:r>
          </a:p>
        </p:txBody>
      </p:sp>
      <p:sp>
        <p:nvSpPr>
          <p:cNvPr id="28" name="TextBox 27"/>
          <p:cNvSpPr txBox="1"/>
          <p:nvPr/>
        </p:nvSpPr>
        <p:spPr>
          <a:xfrm>
            <a:off x="3035808" y="4434840"/>
            <a:ext cx="1691640" cy="457200"/>
          </a:xfrm>
          <a:prstGeom prst="rect">
            <a:avLst/>
          </a:prstGeom>
          <a:noFill/>
        </p:spPr>
        <p:txBody>
          <a:bodyPr wrap="square" anchor="t" lIns="0" rIns="0" tIns="0" bIns="0">
            <a:spAutoFit/>
          </a:bodyPr>
          <a:lstStyle/>
          <a:p>
            <a:pPr algn="l">
              <a:spcAft>
                <a:spcPts val="600"/>
              </a:spcAft>
            </a:pPr>
            <a:r>
              <a:rPr sz="1500" b="1" i="0">
                <a:solidFill>
                  <a:srgbClr val="14213D"/>
                </a:solidFill>
                <a:latin typeface="Calibri"/>
              </a:rPr>
              <a:t>Create a branch</a:t>
            </a:r>
          </a:p>
        </p:txBody>
      </p:sp>
      <p:sp>
        <p:nvSpPr>
          <p:cNvPr id="29" name="TextBox 28"/>
          <p:cNvSpPr txBox="1"/>
          <p:nvPr/>
        </p:nvSpPr>
        <p:spPr>
          <a:xfrm>
            <a:off x="3035808" y="4892040"/>
            <a:ext cx="1691640" cy="1005840"/>
          </a:xfrm>
          <a:prstGeom prst="rect">
            <a:avLst/>
          </a:prstGeom>
          <a:noFill/>
        </p:spPr>
        <p:txBody>
          <a:bodyPr wrap="square" anchor="t" lIns="0" rIns="0" tIns="0" bIns="0">
            <a:spAutoFit/>
          </a:bodyPr>
          <a:lstStyle/>
          <a:p>
            <a:pPr algn="l">
              <a:spcAft>
                <a:spcPts val="600"/>
              </a:spcAft>
            </a:pPr>
            <a:r>
              <a:rPr sz="1300" b="0" i="0">
                <a:solidFill>
                  <a:srgbClr val="1F2937"/>
                </a:solidFill>
                <a:latin typeface="Calibri"/>
              </a:rPr>
              <a:t>Keep work on one component isolated</a:t>
            </a:r>
          </a:p>
        </p:txBody>
      </p:sp>
      <p:sp>
        <p:nvSpPr>
          <p:cNvPr id="30" name="Rounded Rectangle 29"/>
          <p:cNvSpPr/>
          <p:nvPr/>
        </p:nvSpPr>
        <p:spPr>
          <a:xfrm>
            <a:off x="5065776" y="3611880"/>
            <a:ext cx="2029968" cy="23317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294376" y="384048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CA311"/>
                </a:solidFill>
                <a:latin typeface="Cambria"/>
              </a:rPr>
              <a:t>3</a:t>
            </a:r>
          </a:p>
        </p:txBody>
      </p:sp>
      <p:sp>
        <p:nvSpPr>
          <p:cNvPr id="32" name="TextBox 31"/>
          <p:cNvSpPr txBox="1"/>
          <p:nvPr/>
        </p:nvSpPr>
        <p:spPr>
          <a:xfrm>
            <a:off x="5294376" y="4434840"/>
            <a:ext cx="1691640" cy="457200"/>
          </a:xfrm>
          <a:prstGeom prst="rect">
            <a:avLst/>
          </a:prstGeom>
          <a:noFill/>
        </p:spPr>
        <p:txBody>
          <a:bodyPr wrap="square" anchor="t" lIns="0" rIns="0" tIns="0" bIns="0">
            <a:spAutoFit/>
          </a:bodyPr>
          <a:lstStyle/>
          <a:p>
            <a:pPr algn="l">
              <a:spcAft>
                <a:spcPts val="600"/>
              </a:spcAft>
            </a:pPr>
            <a:r>
              <a:rPr sz="1500" b="1" i="0">
                <a:solidFill>
                  <a:srgbClr val="14213D"/>
                </a:solidFill>
                <a:latin typeface="Calibri"/>
              </a:rPr>
              <a:t>Commit findings</a:t>
            </a:r>
          </a:p>
        </p:txBody>
      </p:sp>
      <p:sp>
        <p:nvSpPr>
          <p:cNvPr id="33" name="TextBox 32"/>
          <p:cNvSpPr txBox="1"/>
          <p:nvPr/>
        </p:nvSpPr>
        <p:spPr>
          <a:xfrm>
            <a:off x="5294376" y="4892040"/>
            <a:ext cx="1691640" cy="1005840"/>
          </a:xfrm>
          <a:prstGeom prst="rect">
            <a:avLst/>
          </a:prstGeom>
          <a:noFill/>
        </p:spPr>
        <p:txBody>
          <a:bodyPr wrap="square" anchor="t" lIns="0" rIns="0" tIns="0" bIns="0">
            <a:spAutoFit/>
          </a:bodyPr>
          <a:lstStyle/>
          <a:p>
            <a:pPr algn="l">
              <a:spcAft>
                <a:spcPts val="600"/>
              </a:spcAft>
            </a:pPr>
            <a:r>
              <a:rPr sz="1300" b="0" i="0">
                <a:solidFill>
                  <a:srgbClr val="1F2937"/>
                </a:solidFill>
                <a:latin typeface="Calibri"/>
              </a:rPr>
              <a:t>Notes, scripts and diagrams with clear messages</a:t>
            </a:r>
          </a:p>
        </p:txBody>
      </p:sp>
      <p:sp>
        <p:nvSpPr>
          <p:cNvPr id="34" name="Rounded Rectangle 33"/>
          <p:cNvSpPr/>
          <p:nvPr/>
        </p:nvSpPr>
        <p:spPr>
          <a:xfrm>
            <a:off x="7324344" y="3611880"/>
            <a:ext cx="2029968" cy="23317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52944" y="384048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CA311"/>
                </a:solidFill>
                <a:latin typeface="Cambria"/>
              </a:rPr>
              <a:t>4</a:t>
            </a:r>
          </a:p>
        </p:txBody>
      </p:sp>
      <p:sp>
        <p:nvSpPr>
          <p:cNvPr id="36" name="TextBox 35"/>
          <p:cNvSpPr txBox="1"/>
          <p:nvPr/>
        </p:nvSpPr>
        <p:spPr>
          <a:xfrm>
            <a:off x="7552944" y="4434840"/>
            <a:ext cx="1691640" cy="457200"/>
          </a:xfrm>
          <a:prstGeom prst="rect">
            <a:avLst/>
          </a:prstGeom>
          <a:noFill/>
        </p:spPr>
        <p:txBody>
          <a:bodyPr wrap="square" anchor="t" lIns="0" rIns="0" tIns="0" bIns="0">
            <a:spAutoFit/>
          </a:bodyPr>
          <a:lstStyle/>
          <a:p>
            <a:pPr algn="l">
              <a:spcAft>
                <a:spcPts val="600"/>
              </a:spcAft>
            </a:pPr>
            <a:r>
              <a:rPr sz="1500" b="1" i="0">
                <a:solidFill>
                  <a:srgbClr val="14213D"/>
                </a:solidFill>
                <a:latin typeface="Calibri"/>
              </a:rPr>
              <a:t>Pull request</a:t>
            </a:r>
          </a:p>
        </p:txBody>
      </p:sp>
      <p:sp>
        <p:nvSpPr>
          <p:cNvPr id="37" name="TextBox 36"/>
          <p:cNvSpPr txBox="1"/>
          <p:nvPr/>
        </p:nvSpPr>
        <p:spPr>
          <a:xfrm>
            <a:off x="7552944" y="4892040"/>
            <a:ext cx="1691640" cy="1005840"/>
          </a:xfrm>
          <a:prstGeom prst="rect">
            <a:avLst/>
          </a:prstGeom>
          <a:noFill/>
        </p:spPr>
        <p:txBody>
          <a:bodyPr wrap="square" anchor="t" lIns="0" rIns="0" tIns="0" bIns="0">
            <a:spAutoFit/>
          </a:bodyPr>
          <a:lstStyle/>
          <a:p>
            <a:pPr algn="l">
              <a:spcAft>
                <a:spcPts val="600"/>
              </a:spcAft>
            </a:pPr>
            <a:r>
              <a:rPr sz="1300" b="0" i="0">
                <a:solidFill>
                  <a:srgbClr val="1F2937"/>
                </a:solidFill>
                <a:latin typeface="Calibri"/>
              </a:rPr>
              <a:t>Peers review; Actions run automated checks</a:t>
            </a:r>
          </a:p>
        </p:txBody>
      </p:sp>
      <p:sp>
        <p:nvSpPr>
          <p:cNvPr id="38" name="Rounded Rectangle 37"/>
          <p:cNvSpPr/>
          <p:nvPr/>
        </p:nvSpPr>
        <p:spPr>
          <a:xfrm>
            <a:off x="9582912" y="3611880"/>
            <a:ext cx="2029968" cy="23317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811512" y="3840480"/>
            <a:ext cx="457200" cy="45720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14213D"/>
                </a:solidFill>
                <a:latin typeface="Cambria"/>
              </a:rPr>
              <a:t>5</a:t>
            </a:r>
          </a:p>
        </p:txBody>
      </p:sp>
      <p:sp>
        <p:nvSpPr>
          <p:cNvPr id="40" name="TextBox 39"/>
          <p:cNvSpPr txBox="1"/>
          <p:nvPr/>
        </p:nvSpPr>
        <p:spPr>
          <a:xfrm>
            <a:off x="9811512" y="4434840"/>
            <a:ext cx="1691640" cy="457200"/>
          </a:xfrm>
          <a:prstGeom prst="rect">
            <a:avLst/>
          </a:prstGeom>
          <a:noFill/>
        </p:spPr>
        <p:txBody>
          <a:bodyPr wrap="square" anchor="t" lIns="0" rIns="0" tIns="0" bIns="0">
            <a:spAutoFit/>
          </a:bodyPr>
          <a:lstStyle/>
          <a:p>
            <a:pPr algn="l">
              <a:spcAft>
                <a:spcPts val="600"/>
              </a:spcAft>
            </a:pPr>
            <a:r>
              <a:rPr sz="1500" b="1" i="0">
                <a:solidFill>
                  <a:srgbClr val="14213D"/>
                </a:solidFill>
                <a:latin typeface="Calibri"/>
              </a:rPr>
              <a:t>Merge</a:t>
            </a:r>
          </a:p>
        </p:txBody>
      </p:sp>
      <p:sp>
        <p:nvSpPr>
          <p:cNvPr id="41" name="TextBox 40"/>
          <p:cNvSpPr txBox="1"/>
          <p:nvPr/>
        </p:nvSpPr>
        <p:spPr>
          <a:xfrm>
            <a:off x="9811512" y="4892040"/>
            <a:ext cx="1691640" cy="1005840"/>
          </a:xfrm>
          <a:prstGeom prst="rect">
            <a:avLst/>
          </a:prstGeom>
          <a:noFill/>
        </p:spPr>
        <p:txBody>
          <a:bodyPr wrap="square" anchor="t" lIns="0" rIns="0" tIns="0" bIns="0">
            <a:spAutoFit/>
          </a:bodyPr>
          <a:lstStyle/>
          <a:p>
            <a:pPr algn="l">
              <a:spcAft>
                <a:spcPts val="600"/>
              </a:spcAft>
            </a:pPr>
            <a:r>
              <a:rPr sz="1300" b="0" i="0">
                <a:solidFill>
                  <a:srgbClr val="1F2937"/>
                </a:solidFill>
                <a:latin typeface="Calibri"/>
              </a:rPr>
              <a:t>Findings join the shared knowledge base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Open-Source RE Tools on GitHub</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17 / 20</a:t>
            </a:r>
          </a:p>
        </p:txBody>
      </p:sp>
      <p:graphicFrame>
        <p:nvGraphicFramePr>
          <p:cNvPr id="5" name="Table 4"/>
          <p:cNvGraphicFramePr>
            <a:graphicFrameLocks noGrp="1"/>
          </p:cNvGraphicFramePr>
          <p:nvPr/>
        </p:nvGraphicFramePr>
        <p:xfrm>
          <a:off x="548640" y="1463040"/>
          <a:ext cx="11064240" cy="4389120"/>
        </p:xfrm>
        <a:graphic>
          <a:graphicData uri="http://schemas.openxmlformats.org/drawingml/2006/table">
            <a:tbl>
              <a:tblPr firstRow="1" bandRow="1">
                <a:tableStyleId>{5C22544A-7EE6-4342-B048-85BDC9FD1C3A}</a:tableStyleId>
              </a:tblPr>
              <a:tblGrid>
                <a:gridCol w="2103120"/>
                <a:gridCol w="5029200"/>
                <a:gridCol w="3931920"/>
              </a:tblGrid>
              <a:tr h="548640">
                <a:tc>
                  <a:txBody>
                    <a:bodyPr/>
                    <a:lstStyle/>
                    <a:p>
                      <a:r>
                        <a:rPr sz="1500" b="1">
                          <a:solidFill>
                            <a:srgbClr val="FFFFFF"/>
                          </a:solidFill>
                          <a:latin typeface="Calibri"/>
                        </a:rPr>
                        <a:t>Tool</a:t>
                      </a:r>
                    </a:p>
                  </a:txBody>
                  <a:tcPr marL="137160" anchor="ctr">
                    <a:solidFill>
                      <a:srgbClr val="14213D"/>
                    </a:solidFill>
                  </a:tcPr>
                </a:tc>
                <a:tc>
                  <a:txBody>
                    <a:bodyPr/>
                    <a:lstStyle/>
                    <a:p>
                      <a:r>
                        <a:rPr sz="1500" b="1">
                          <a:solidFill>
                            <a:srgbClr val="FFFFFF"/>
                          </a:solidFill>
                          <a:latin typeface="Calibri"/>
                        </a:rPr>
                        <a:t>Purpose</a:t>
                      </a:r>
                    </a:p>
                  </a:txBody>
                  <a:tcPr marL="137160" anchor="ctr">
                    <a:solidFill>
                      <a:srgbClr val="14213D"/>
                    </a:solidFill>
                  </a:tcPr>
                </a:tc>
                <a:tc>
                  <a:txBody>
                    <a:bodyPr/>
                    <a:lstStyle/>
                    <a:p>
                      <a:r>
                        <a:rPr sz="1500" b="1">
                          <a:solidFill>
                            <a:srgbClr val="FFFFFF"/>
                          </a:solidFill>
                          <a:latin typeface="Calibri"/>
                        </a:rPr>
                        <a:t>GitHub repository</a:t>
                      </a:r>
                    </a:p>
                  </a:txBody>
                  <a:tcPr marL="137160" anchor="ctr">
                    <a:solidFill>
                      <a:srgbClr val="14213D"/>
                    </a:solidFill>
                  </a:tcPr>
                </a:tc>
              </a:tr>
              <a:tr h="548640">
                <a:tc>
                  <a:txBody>
                    <a:bodyPr/>
                    <a:lstStyle/>
                    <a:p>
                      <a:r>
                        <a:rPr sz="1400" b="1">
                          <a:solidFill>
                            <a:srgbClr val="14213D"/>
                          </a:solidFill>
                          <a:latin typeface="Calibri"/>
                        </a:rPr>
                        <a:t>Ghidra</a:t>
                      </a:r>
                    </a:p>
                  </a:txBody>
                  <a:tcPr marL="137160" anchor="ctr">
                    <a:solidFill>
                      <a:srgbClr val="FFFFFF"/>
                    </a:solidFill>
                  </a:tcPr>
                </a:tc>
                <a:tc>
                  <a:txBody>
                    <a:bodyPr/>
                    <a:lstStyle/>
                    <a:p>
                      <a:r>
                        <a:rPr sz="1400" b="0">
                          <a:solidFill>
                            <a:srgbClr val="1F2937"/>
                          </a:solidFill>
                          <a:latin typeface="Calibri"/>
                        </a:rPr>
                        <a:t>Disassembly and decompilation suite</a:t>
                      </a:r>
                    </a:p>
                  </a:txBody>
                  <a:tcPr marL="137160" anchor="ctr">
                    <a:solidFill>
                      <a:srgbClr val="FFFFFF"/>
                    </a:solidFill>
                  </a:tcPr>
                </a:tc>
                <a:tc>
                  <a:txBody>
                    <a:bodyPr/>
                    <a:lstStyle/>
                    <a:p>
                      <a:r>
                        <a:rPr sz="1400" b="0">
                          <a:solidFill>
                            <a:srgbClr val="1F2937"/>
                          </a:solidFill>
                          <a:latin typeface="Courier New"/>
                        </a:rPr>
                        <a:t>NationalSecurityAgency/ghidra</a:t>
                      </a:r>
                    </a:p>
                  </a:txBody>
                  <a:tcPr marL="137160" anchor="ctr">
                    <a:solidFill>
                      <a:srgbClr val="FFFFFF"/>
                    </a:solidFill>
                  </a:tcPr>
                </a:tc>
              </a:tr>
              <a:tr h="548640">
                <a:tc>
                  <a:txBody>
                    <a:bodyPr/>
                    <a:lstStyle/>
                    <a:p>
                      <a:r>
                        <a:rPr sz="1400" b="1">
                          <a:solidFill>
                            <a:srgbClr val="14213D"/>
                          </a:solidFill>
                          <a:latin typeface="Calibri"/>
                        </a:rPr>
                        <a:t>radare2</a:t>
                      </a:r>
                    </a:p>
                  </a:txBody>
                  <a:tcPr marL="137160" anchor="ctr">
                    <a:solidFill>
                      <a:srgbClr val="EEF2F7"/>
                    </a:solidFill>
                  </a:tcPr>
                </a:tc>
                <a:tc>
                  <a:txBody>
                    <a:bodyPr/>
                    <a:lstStyle/>
                    <a:p>
                      <a:r>
                        <a:rPr sz="1400" b="0">
                          <a:solidFill>
                            <a:srgbClr val="1F2937"/>
                          </a:solidFill>
                          <a:latin typeface="Calibri"/>
                        </a:rPr>
                        <a:t>Command-line reverse engineering framework</a:t>
                      </a:r>
                    </a:p>
                  </a:txBody>
                  <a:tcPr marL="137160" anchor="ctr">
                    <a:solidFill>
                      <a:srgbClr val="EEF2F7"/>
                    </a:solidFill>
                  </a:tcPr>
                </a:tc>
                <a:tc>
                  <a:txBody>
                    <a:bodyPr/>
                    <a:lstStyle/>
                    <a:p>
                      <a:r>
                        <a:rPr sz="1400" b="0">
                          <a:solidFill>
                            <a:srgbClr val="1F2937"/>
                          </a:solidFill>
                          <a:latin typeface="Courier New"/>
                        </a:rPr>
                        <a:t>radareorg/radare2</a:t>
                      </a:r>
                    </a:p>
                  </a:txBody>
                  <a:tcPr marL="137160" anchor="ctr">
                    <a:solidFill>
                      <a:srgbClr val="EEF2F7"/>
                    </a:solidFill>
                  </a:tcPr>
                </a:tc>
              </a:tr>
              <a:tr h="548640">
                <a:tc>
                  <a:txBody>
                    <a:bodyPr/>
                    <a:lstStyle/>
                    <a:p>
                      <a:r>
                        <a:rPr sz="1400" b="1">
                          <a:solidFill>
                            <a:srgbClr val="14213D"/>
                          </a:solidFill>
                          <a:latin typeface="Calibri"/>
                        </a:rPr>
                        <a:t>Cutter</a:t>
                      </a:r>
                    </a:p>
                  </a:txBody>
                  <a:tcPr marL="137160" anchor="ctr">
                    <a:solidFill>
                      <a:srgbClr val="FFFFFF"/>
                    </a:solidFill>
                  </a:tcPr>
                </a:tc>
                <a:tc>
                  <a:txBody>
                    <a:bodyPr/>
                    <a:lstStyle/>
                    <a:p>
                      <a:r>
                        <a:rPr sz="1400" b="0">
                          <a:solidFill>
                            <a:srgbClr val="1F2937"/>
                          </a:solidFill>
                          <a:latin typeface="Calibri"/>
                        </a:rPr>
                        <a:t>Graphical interface built on Rizin</a:t>
                      </a:r>
                    </a:p>
                  </a:txBody>
                  <a:tcPr marL="137160" anchor="ctr">
                    <a:solidFill>
                      <a:srgbClr val="FFFFFF"/>
                    </a:solidFill>
                  </a:tcPr>
                </a:tc>
                <a:tc>
                  <a:txBody>
                    <a:bodyPr/>
                    <a:lstStyle/>
                    <a:p>
                      <a:r>
                        <a:rPr sz="1400" b="0">
                          <a:solidFill>
                            <a:srgbClr val="1F2937"/>
                          </a:solidFill>
                          <a:latin typeface="Courier New"/>
                        </a:rPr>
                        <a:t>rizinorg/cutter</a:t>
                      </a:r>
                    </a:p>
                  </a:txBody>
                  <a:tcPr marL="137160" anchor="ctr">
                    <a:solidFill>
                      <a:srgbClr val="FFFFFF"/>
                    </a:solidFill>
                  </a:tcPr>
                </a:tc>
              </a:tr>
              <a:tr h="548640">
                <a:tc>
                  <a:txBody>
                    <a:bodyPr/>
                    <a:lstStyle/>
                    <a:p>
                      <a:r>
                        <a:rPr sz="1400" b="1">
                          <a:solidFill>
                            <a:srgbClr val="14213D"/>
                          </a:solidFill>
                          <a:latin typeface="Calibri"/>
                        </a:rPr>
                        <a:t>x64dbg</a:t>
                      </a:r>
                    </a:p>
                  </a:txBody>
                  <a:tcPr marL="137160" anchor="ctr">
                    <a:solidFill>
                      <a:srgbClr val="EEF2F7"/>
                    </a:solidFill>
                  </a:tcPr>
                </a:tc>
                <a:tc>
                  <a:txBody>
                    <a:bodyPr/>
                    <a:lstStyle/>
                    <a:p>
                      <a:r>
                        <a:rPr sz="1400" b="0">
                          <a:solidFill>
                            <a:srgbClr val="1F2937"/>
                          </a:solidFill>
                          <a:latin typeface="Calibri"/>
                        </a:rPr>
                        <a:t>Debugger for Windows applications</a:t>
                      </a:r>
                    </a:p>
                  </a:txBody>
                  <a:tcPr marL="137160" anchor="ctr">
                    <a:solidFill>
                      <a:srgbClr val="EEF2F7"/>
                    </a:solidFill>
                  </a:tcPr>
                </a:tc>
                <a:tc>
                  <a:txBody>
                    <a:bodyPr/>
                    <a:lstStyle/>
                    <a:p>
                      <a:r>
                        <a:rPr sz="1400" b="0">
                          <a:solidFill>
                            <a:srgbClr val="1F2937"/>
                          </a:solidFill>
                          <a:latin typeface="Courier New"/>
                        </a:rPr>
                        <a:t>x64dbg/x64dbg</a:t>
                      </a:r>
                    </a:p>
                  </a:txBody>
                  <a:tcPr marL="137160" anchor="ctr">
                    <a:solidFill>
                      <a:srgbClr val="EEF2F7"/>
                    </a:solidFill>
                  </a:tcPr>
                </a:tc>
              </a:tr>
              <a:tr h="548640">
                <a:tc>
                  <a:txBody>
                    <a:bodyPr/>
                    <a:lstStyle/>
                    <a:p>
                      <a:r>
                        <a:rPr sz="1400" b="1">
                          <a:solidFill>
                            <a:srgbClr val="14213D"/>
                          </a:solidFill>
                          <a:latin typeface="Calibri"/>
                        </a:rPr>
                        <a:t>Frida</a:t>
                      </a:r>
                    </a:p>
                  </a:txBody>
                  <a:tcPr marL="137160" anchor="ctr">
                    <a:solidFill>
                      <a:srgbClr val="FFFFFF"/>
                    </a:solidFill>
                  </a:tcPr>
                </a:tc>
                <a:tc>
                  <a:txBody>
                    <a:bodyPr/>
                    <a:lstStyle/>
                    <a:p>
                      <a:r>
                        <a:rPr sz="1400" b="0">
                          <a:solidFill>
                            <a:srgbClr val="1F2937"/>
                          </a:solidFill>
                          <a:latin typeface="Calibri"/>
                        </a:rPr>
                        <a:t>Dynamic instrumentation toolkit</a:t>
                      </a:r>
                    </a:p>
                  </a:txBody>
                  <a:tcPr marL="137160" anchor="ctr">
                    <a:solidFill>
                      <a:srgbClr val="FFFFFF"/>
                    </a:solidFill>
                  </a:tcPr>
                </a:tc>
                <a:tc>
                  <a:txBody>
                    <a:bodyPr/>
                    <a:lstStyle/>
                    <a:p>
                      <a:r>
                        <a:rPr sz="1400" b="0">
                          <a:solidFill>
                            <a:srgbClr val="1F2937"/>
                          </a:solidFill>
                          <a:latin typeface="Courier New"/>
                        </a:rPr>
                        <a:t>frida/frida</a:t>
                      </a:r>
                    </a:p>
                  </a:txBody>
                  <a:tcPr marL="137160" anchor="ctr">
                    <a:solidFill>
                      <a:srgbClr val="FFFFFF"/>
                    </a:solidFill>
                  </a:tcPr>
                </a:tc>
              </a:tr>
              <a:tr h="548640">
                <a:tc>
                  <a:txBody>
                    <a:bodyPr/>
                    <a:lstStyle/>
                    <a:p>
                      <a:r>
                        <a:rPr sz="1400" b="1">
                          <a:solidFill>
                            <a:srgbClr val="14213D"/>
                          </a:solidFill>
                          <a:latin typeface="Calibri"/>
                        </a:rPr>
                        <a:t>Capstone</a:t>
                      </a:r>
                    </a:p>
                  </a:txBody>
                  <a:tcPr marL="137160" anchor="ctr">
                    <a:solidFill>
                      <a:srgbClr val="EEF2F7"/>
                    </a:solidFill>
                  </a:tcPr>
                </a:tc>
                <a:tc>
                  <a:txBody>
                    <a:bodyPr/>
                    <a:lstStyle/>
                    <a:p>
                      <a:r>
                        <a:rPr sz="1400" b="0">
                          <a:solidFill>
                            <a:srgbClr val="1F2937"/>
                          </a:solidFill>
                          <a:latin typeface="Calibri"/>
                        </a:rPr>
                        <a:t>Multi-architecture disassembly engine</a:t>
                      </a:r>
                    </a:p>
                  </a:txBody>
                  <a:tcPr marL="137160" anchor="ctr">
                    <a:solidFill>
                      <a:srgbClr val="EEF2F7"/>
                    </a:solidFill>
                  </a:tcPr>
                </a:tc>
                <a:tc>
                  <a:txBody>
                    <a:bodyPr/>
                    <a:lstStyle/>
                    <a:p>
                      <a:r>
                        <a:rPr sz="1400" b="0">
                          <a:solidFill>
                            <a:srgbClr val="1F2937"/>
                          </a:solidFill>
                          <a:latin typeface="Courier New"/>
                        </a:rPr>
                        <a:t>capstone-engine/capstone</a:t>
                      </a:r>
                    </a:p>
                  </a:txBody>
                  <a:tcPr marL="137160" anchor="ctr">
                    <a:solidFill>
                      <a:srgbClr val="EEF2F7"/>
                    </a:solidFill>
                  </a:tcPr>
                </a:tc>
              </a:tr>
              <a:tr h="548640">
                <a:tc>
                  <a:txBody>
                    <a:bodyPr/>
                    <a:lstStyle/>
                    <a:p>
                      <a:r>
                        <a:rPr sz="1400" b="1">
                          <a:solidFill>
                            <a:srgbClr val="14213D"/>
                          </a:solidFill>
                          <a:latin typeface="Calibri"/>
                        </a:rPr>
                        <a:t>YARA</a:t>
                      </a:r>
                    </a:p>
                  </a:txBody>
                  <a:tcPr marL="137160" anchor="ctr">
                    <a:solidFill>
                      <a:srgbClr val="FFFFFF"/>
                    </a:solidFill>
                  </a:tcPr>
                </a:tc>
                <a:tc>
                  <a:txBody>
                    <a:bodyPr/>
                    <a:lstStyle/>
                    <a:p>
                      <a:r>
                        <a:rPr sz="1400" b="0">
                          <a:solidFill>
                            <a:srgbClr val="1F2937"/>
                          </a:solidFill>
                          <a:latin typeface="Calibri"/>
                        </a:rPr>
                        <a:t>Pattern matching for malware research</a:t>
                      </a:r>
                    </a:p>
                  </a:txBody>
                  <a:tcPr marL="137160" anchor="ctr">
                    <a:solidFill>
                      <a:srgbClr val="FFFFFF"/>
                    </a:solidFill>
                  </a:tcPr>
                </a:tc>
                <a:tc>
                  <a:txBody>
                    <a:bodyPr/>
                    <a:lstStyle/>
                    <a:p>
                      <a:r>
                        <a:rPr sz="1400" b="0">
                          <a:solidFill>
                            <a:srgbClr val="1F2937"/>
                          </a:solidFill>
                          <a:latin typeface="Courier New"/>
                        </a:rPr>
                        <a:t>VirusTotal/yara</a:t>
                      </a:r>
                    </a:p>
                  </a:txBody>
                  <a:tcPr marL="137160"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Legal and Ethical Considerations</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18 / 20</a:t>
            </a:r>
          </a:p>
        </p:txBody>
      </p:sp>
      <p:sp>
        <p:nvSpPr>
          <p:cNvPr id="5" name="Rounded Rectangle 4"/>
          <p:cNvSpPr/>
          <p:nvPr/>
        </p:nvSpPr>
        <p:spPr>
          <a:xfrm>
            <a:off x="548640" y="1463040"/>
            <a:ext cx="3474720" cy="4297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169164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200" b="1" i="0">
                <a:solidFill>
                  <a:srgbClr val="FFFFFF"/>
                </a:solidFill>
                <a:latin typeface="Cambria"/>
              </a:rPr>
              <a:t>L</a:t>
            </a:r>
          </a:p>
        </p:txBody>
      </p:sp>
      <p:sp>
        <p:nvSpPr>
          <p:cNvPr id="7" name="TextBox 6"/>
          <p:cNvSpPr txBox="1"/>
          <p:nvPr/>
        </p:nvSpPr>
        <p:spPr>
          <a:xfrm>
            <a:off x="1600200" y="1691640"/>
            <a:ext cx="2286000" cy="640080"/>
          </a:xfrm>
          <a:prstGeom prst="rect">
            <a:avLst/>
          </a:prstGeom>
          <a:noFill/>
        </p:spPr>
        <p:txBody>
          <a:bodyPr wrap="square" anchor="ctr" lIns="0" rIns="0" tIns="0" bIns="0">
            <a:spAutoFit/>
          </a:bodyPr>
          <a:lstStyle/>
          <a:p>
            <a:pPr algn="l">
              <a:spcAft>
                <a:spcPts val="600"/>
              </a:spcAft>
            </a:pPr>
            <a:r>
              <a:rPr sz="2000" b="1" i="0">
                <a:solidFill>
                  <a:srgbClr val="14213D"/>
                </a:solidFill>
                <a:latin typeface="Calibri"/>
              </a:rPr>
              <a:t>Legal</a:t>
            </a:r>
          </a:p>
        </p:txBody>
      </p:sp>
      <p:sp>
        <p:nvSpPr>
          <p:cNvPr id="8" name="TextBox 7"/>
          <p:cNvSpPr txBox="1"/>
          <p:nvPr/>
        </p:nvSpPr>
        <p:spPr>
          <a:xfrm>
            <a:off x="822959" y="2606040"/>
            <a:ext cx="2971800" cy="3017520"/>
          </a:xfrm>
          <a:prstGeom prst="rect">
            <a:avLst/>
          </a:prstGeom>
          <a:noFill/>
        </p:spPr>
        <p:txBody>
          <a:bodyPr wrap="square" anchor="t" lIns="0" rIns="0" tIns="0" bIns="0">
            <a:spAutoFit/>
          </a:bodyPr>
          <a:lstStyle/>
          <a:p>
            <a:pPr algn="l" marL="256032" indent="-256032">
              <a:spcAft>
                <a:spcPts val="1800"/>
              </a:spcAft>
              <a:buClr>
                <a:srgbClr val="14213D"/>
              </a:buClr>
              <a:buFont typeface="Arial"/>
              <a:buChar char="•"/>
            </a:pPr>
            <a:r>
              <a:rPr sz="1700" b="0" i="0">
                <a:solidFill>
                  <a:srgbClr val="1F2937"/>
                </a:solidFill>
                <a:latin typeface="Calibri"/>
              </a:rPr>
              <a:t>Copyright and licence (EULA) terms may restrict analysis</a:t>
            </a:r>
          </a:p>
          <a:p>
            <a:pPr algn="l" marL="256032" indent="-256032">
              <a:spcAft>
                <a:spcPts val="1800"/>
              </a:spcAft>
              <a:buClr>
                <a:srgbClr val="14213D"/>
              </a:buClr>
              <a:buFont typeface="Arial"/>
              <a:buChar char="•"/>
            </a:pPr>
            <a:r>
              <a:rPr sz="1700" b="0" i="0">
                <a:solidFill>
                  <a:srgbClr val="1F2937"/>
                </a:solidFill>
                <a:latin typeface="Calibri"/>
              </a:rPr>
              <a:t>Many laws allow RE for interoperability and security research</a:t>
            </a:r>
          </a:p>
          <a:p>
            <a:pPr algn="l" marL="256032" indent="-256032">
              <a:spcAft>
                <a:spcPts val="1800"/>
              </a:spcAft>
              <a:buClr>
                <a:srgbClr val="14213D"/>
              </a:buClr>
              <a:buFont typeface="Arial"/>
              <a:buChar char="•"/>
            </a:pPr>
            <a:r>
              <a:rPr sz="1700" b="0" i="0">
                <a:solidFill>
                  <a:srgbClr val="1F2937"/>
                </a:solidFill>
                <a:latin typeface="Calibri"/>
              </a:rPr>
              <a:t>Rules differ between countries</a:t>
            </a:r>
          </a:p>
        </p:txBody>
      </p:sp>
      <p:sp>
        <p:nvSpPr>
          <p:cNvPr id="9" name="Rounded Rectangle 8"/>
          <p:cNvSpPr/>
          <p:nvPr/>
        </p:nvSpPr>
        <p:spPr>
          <a:xfrm>
            <a:off x="4343400" y="1463040"/>
            <a:ext cx="3474720" cy="4297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20" y="1691640"/>
            <a:ext cx="640080" cy="6400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200" b="1" i="0">
                <a:solidFill>
                  <a:srgbClr val="FFFFFF"/>
                </a:solidFill>
                <a:latin typeface="Cambria"/>
              </a:rPr>
              <a:t>E</a:t>
            </a:r>
          </a:p>
        </p:txBody>
      </p:sp>
      <p:sp>
        <p:nvSpPr>
          <p:cNvPr id="11" name="TextBox 10"/>
          <p:cNvSpPr txBox="1"/>
          <p:nvPr/>
        </p:nvSpPr>
        <p:spPr>
          <a:xfrm>
            <a:off x="5394960" y="1691640"/>
            <a:ext cx="2286000" cy="640080"/>
          </a:xfrm>
          <a:prstGeom prst="rect">
            <a:avLst/>
          </a:prstGeom>
          <a:noFill/>
        </p:spPr>
        <p:txBody>
          <a:bodyPr wrap="square" anchor="ctr" lIns="0" rIns="0" tIns="0" bIns="0">
            <a:spAutoFit/>
          </a:bodyPr>
          <a:lstStyle/>
          <a:p>
            <a:pPr algn="l">
              <a:spcAft>
                <a:spcPts val="600"/>
              </a:spcAft>
            </a:pPr>
            <a:r>
              <a:rPr sz="2000" b="1" i="0">
                <a:solidFill>
                  <a:srgbClr val="14213D"/>
                </a:solidFill>
                <a:latin typeface="Calibri"/>
              </a:rPr>
              <a:t>Ethical</a:t>
            </a:r>
          </a:p>
        </p:txBody>
      </p:sp>
      <p:sp>
        <p:nvSpPr>
          <p:cNvPr id="12" name="TextBox 11"/>
          <p:cNvSpPr txBox="1"/>
          <p:nvPr/>
        </p:nvSpPr>
        <p:spPr>
          <a:xfrm>
            <a:off x="4617720" y="2606040"/>
            <a:ext cx="2971800" cy="3017520"/>
          </a:xfrm>
          <a:prstGeom prst="rect">
            <a:avLst/>
          </a:prstGeom>
          <a:noFill/>
        </p:spPr>
        <p:txBody>
          <a:bodyPr wrap="square" anchor="t" lIns="0" rIns="0" tIns="0" bIns="0">
            <a:spAutoFit/>
          </a:bodyPr>
          <a:lstStyle/>
          <a:p>
            <a:pPr algn="l" marL="256032" indent="-256032">
              <a:spcAft>
                <a:spcPts val="1800"/>
              </a:spcAft>
              <a:buClr>
                <a:srgbClr val="2A9D8F"/>
              </a:buClr>
              <a:buFont typeface="Arial"/>
              <a:buChar char="•"/>
            </a:pPr>
            <a:r>
              <a:rPr sz="1700" b="0" i="0">
                <a:solidFill>
                  <a:srgbClr val="1F2937"/>
                </a:solidFill>
                <a:latin typeface="Calibri"/>
              </a:rPr>
              <a:t>Analyse only with permission or clear legal basis</a:t>
            </a:r>
          </a:p>
          <a:p>
            <a:pPr algn="l" marL="256032" indent="-256032">
              <a:spcAft>
                <a:spcPts val="1800"/>
              </a:spcAft>
              <a:buClr>
                <a:srgbClr val="2A9D8F"/>
              </a:buClr>
              <a:buFont typeface="Arial"/>
              <a:buChar char="•"/>
            </a:pPr>
            <a:r>
              <a:rPr sz="1700" b="0" i="0">
                <a:solidFill>
                  <a:srgbClr val="1F2937"/>
                </a:solidFill>
                <a:latin typeface="Calibri"/>
              </a:rPr>
              <a:t>Report vulnerabilities through responsible disclosure</a:t>
            </a:r>
          </a:p>
          <a:p>
            <a:pPr algn="l" marL="256032" indent="-256032">
              <a:spcAft>
                <a:spcPts val="1800"/>
              </a:spcAft>
              <a:buClr>
                <a:srgbClr val="2A9D8F"/>
              </a:buClr>
              <a:buFont typeface="Arial"/>
              <a:buChar char="•"/>
            </a:pPr>
            <a:r>
              <a:rPr sz="1700" b="0" i="0">
                <a:solidFill>
                  <a:srgbClr val="1F2937"/>
                </a:solidFill>
                <a:latin typeface="Calibri"/>
              </a:rPr>
              <a:t>Protect personal data found during analysis</a:t>
            </a:r>
          </a:p>
        </p:txBody>
      </p:sp>
      <p:sp>
        <p:nvSpPr>
          <p:cNvPr id="13" name="Rounded Rectangle 12"/>
          <p:cNvSpPr/>
          <p:nvPr/>
        </p:nvSpPr>
        <p:spPr>
          <a:xfrm>
            <a:off x="8138160" y="1463040"/>
            <a:ext cx="3474720" cy="4297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12480" y="1691640"/>
            <a:ext cx="640080" cy="64008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200" b="1" i="0">
                <a:solidFill>
                  <a:srgbClr val="14213D"/>
                </a:solidFill>
                <a:latin typeface="Cambria"/>
              </a:rPr>
              <a:t>G</a:t>
            </a:r>
          </a:p>
        </p:txBody>
      </p:sp>
      <p:sp>
        <p:nvSpPr>
          <p:cNvPr id="15" name="TextBox 14"/>
          <p:cNvSpPr txBox="1"/>
          <p:nvPr/>
        </p:nvSpPr>
        <p:spPr>
          <a:xfrm>
            <a:off x="9189720" y="1691640"/>
            <a:ext cx="2286000" cy="640080"/>
          </a:xfrm>
          <a:prstGeom prst="rect">
            <a:avLst/>
          </a:prstGeom>
          <a:noFill/>
        </p:spPr>
        <p:txBody>
          <a:bodyPr wrap="square" anchor="ctr" lIns="0" rIns="0" tIns="0" bIns="0">
            <a:spAutoFit/>
          </a:bodyPr>
          <a:lstStyle/>
          <a:p>
            <a:pPr algn="l">
              <a:spcAft>
                <a:spcPts val="600"/>
              </a:spcAft>
            </a:pPr>
            <a:r>
              <a:rPr sz="2000" b="1" i="0">
                <a:solidFill>
                  <a:srgbClr val="14213D"/>
                </a:solidFill>
                <a:latin typeface="Calibri"/>
              </a:rPr>
              <a:t>On GitHub</a:t>
            </a:r>
          </a:p>
        </p:txBody>
      </p:sp>
      <p:sp>
        <p:nvSpPr>
          <p:cNvPr id="16" name="TextBox 15"/>
          <p:cNvSpPr txBox="1"/>
          <p:nvPr/>
        </p:nvSpPr>
        <p:spPr>
          <a:xfrm>
            <a:off x="8412480" y="2606040"/>
            <a:ext cx="2971800" cy="3017520"/>
          </a:xfrm>
          <a:prstGeom prst="rect">
            <a:avLst/>
          </a:prstGeom>
          <a:noFill/>
        </p:spPr>
        <p:txBody>
          <a:bodyPr wrap="square" anchor="t" lIns="0" rIns="0" tIns="0" bIns="0">
            <a:spAutoFit/>
          </a:bodyPr>
          <a:lstStyle/>
          <a:p>
            <a:pPr algn="l" marL="256032" indent="-256032">
              <a:spcAft>
                <a:spcPts val="1800"/>
              </a:spcAft>
              <a:buClr>
                <a:srgbClr val="FCA311"/>
              </a:buClr>
              <a:buFont typeface="Arial"/>
              <a:buChar char="•"/>
            </a:pPr>
            <a:r>
              <a:rPr sz="1700" b="0" i="0">
                <a:solidFill>
                  <a:srgbClr val="1F2937"/>
                </a:solidFill>
                <a:latin typeface="Calibri"/>
              </a:rPr>
              <a:t>Do not publish proprietary binaries or keys</a:t>
            </a:r>
          </a:p>
          <a:p>
            <a:pPr algn="l" marL="256032" indent="-256032">
              <a:spcAft>
                <a:spcPts val="1800"/>
              </a:spcAft>
              <a:buClr>
                <a:srgbClr val="FCA311"/>
              </a:buClr>
              <a:buFont typeface="Arial"/>
              <a:buChar char="•"/>
            </a:pPr>
            <a:r>
              <a:rPr sz="1700" b="0" i="0">
                <a:solidFill>
                  <a:srgbClr val="1F2937"/>
                </a:solidFill>
                <a:latin typeface="Calibri"/>
              </a:rPr>
              <a:t>Use private repositories for sensitive work</a:t>
            </a:r>
          </a:p>
          <a:p>
            <a:pPr algn="l" marL="256032" indent="-256032">
              <a:spcAft>
                <a:spcPts val="1800"/>
              </a:spcAft>
              <a:buClr>
                <a:srgbClr val="FCA311"/>
              </a:buClr>
              <a:buFont typeface="Arial"/>
              <a:buChar char="•"/>
            </a:pPr>
            <a:r>
              <a:rPr sz="1700" b="0" i="0">
                <a:solidFill>
                  <a:srgbClr val="1F2937"/>
                </a:solidFill>
                <a:latin typeface="Calibri"/>
              </a:rPr>
              <a:t>Follow GitHub’s Acceptable Use Policies</a:t>
            </a:r>
          </a:p>
        </p:txBody>
      </p:sp>
      <p:sp>
        <p:nvSpPr>
          <p:cNvPr id="17" name="TextBox 16"/>
          <p:cNvSpPr txBox="1"/>
          <p:nvPr/>
        </p:nvSpPr>
        <p:spPr>
          <a:xfrm>
            <a:off x="548640" y="5897880"/>
            <a:ext cx="11064240" cy="320040"/>
          </a:xfrm>
          <a:prstGeom prst="rect">
            <a:avLst/>
          </a:prstGeom>
          <a:noFill/>
        </p:spPr>
        <p:txBody>
          <a:bodyPr wrap="square" anchor="t" lIns="0" rIns="0" tIns="0" bIns="0">
            <a:spAutoFit/>
          </a:bodyPr>
          <a:lstStyle/>
          <a:p>
            <a:pPr algn="l">
              <a:spcAft>
                <a:spcPts val="600"/>
              </a:spcAft>
            </a:pPr>
            <a:r>
              <a:rPr sz="1100" b="0" i="1">
                <a:solidFill>
                  <a:srgbClr val="6B7280"/>
                </a:solidFill>
                <a:latin typeface="Calibri"/>
              </a:rPr>
              <a:t>General overview only — not legal advice. Check the laws and licences that apply to you.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0" rIns="0" tIns="0" bIns="0">
            <a:spAutoFit/>
          </a:bodyPr>
          <a:lstStyle/>
          <a:p>
            <a:pPr algn="l">
              <a:spcAft>
                <a:spcPts val="600"/>
              </a:spcAft>
            </a:pPr>
            <a:r>
              <a:rPr sz="3600" b="1" i="0">
                <a:solidFill>
                  <a:srgbClr val="14213D"/>
                </a:solidFill>
                <a:latin typeface="Cambria"/>
              </a:rPr>
              <a:t>Challenges and Best Practices</a:t>
            </a:r>
          </a:p>
        </p:txBody>
      </p:sp>
      <p:sp>
        <p:nvSpPr>
          <p:cNvPr id="3" name="TextBox 2"/>
          <p:cNvSpPr txBox="1"/>
          <p:nvPr/>
        </p:nvSpPr>
        <p:spPr>
          <a:xfrm>
            <a:off x="548640" y="6355080"/>
            <a:ext cx="7315200" cy="274320"/>
          </a:xfrm>
          <a:prstGeom prst="rect">
            <a:avLst/>
          </a:prstGeom>
          <a:noFill/>
        </p:spPr>
        <p:txBody>
          <a:bodyPr wrap="square" anchor="t" lIns="0" rIns="0" tIns="0" bIns="0">
            <a:spAutoFit/>
          </a:bodyPr>
          <a:lstStyle/>
          <a:p>
            <a:pPr algn="l">
              <a:spcAft>
                <a:spcPts val="600"/>
              </a:spcAft>
            </a:pPr>
            <a:r>
              <a:rPr sz="1000" b="0" i="0">
                <a:solidFill>
                  <a:srgbClr val="6B7280"/>
                </a:solidFill>
                <a:latin typeface="Calibri"/>
              </a:rPr>
              <a:t>Reverse Engineering Process</a:t>
            </a:r>
          </a:p>
        </p:txBody>
      </p:sp>
      <p:sp>
        <p:nvSpPr>
          <p:cNvPr id="4" name="TextBox 3"/>
          <p:cNvSpPr txBox="1"/>
          <p:nvPr/>
        </p:nvSpPr>
        <p:spPr>
          <a:xfrm>
            <a:off x="9784080" y="6355080"/>
            <a:ext cx="1828800" cy="274320"/>
          </a:xfrm>
          <a:prstGeom prst="rect">
            <a:avLst/>
          </a:prstGeom>
          <a:noFill/>
        </p:spPr>
        <p:txBody>
          <a:bodyPr wrap="square" anchor="t" lIns="0" rIns="0" tIns="0" bIns="0">
            <a:spAutoFit/>
          </a:bodyPr>
          <a:lstStyle/>
          <a:p>
            <a:pPr algn="r">
              <a:spcAft>
                <a:spcPts val="600"/>
              </a:spcAft>
            </a:pPr>
            <a:r>
              <a:rPr sz="1000" b="0" i="0">
                <a:solidFill>
                  <a:srgbClr val="6B7280"/>
                </a:solidFill>
                <a:latin typeface="Calibri"/>
              </a:rPr>
              <a:t>19 / 20</a:t>
            </a:r>
          </a:p>
        </p:txBody>
      </p:sp>
      <p:sp>
        <p:nvSpPr>
          <p:cNvPr id="5" name="Rounded Rectangle 4"/>
          <p:cNvSpPr/>
          <p:nvPr/>
        </p:nvSpPr>
        <p:spPr>
          <a:xfrm>
            <a:off x="548640" y="1463040"/>
            <a:ext cx="5120640" cy="4526280"/>
          </a:xfrm>
          <a:prstGeom prst="roundRect">
            <a:avLst>
              <a:gd name="adj" fmla="val 8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4572000" cy="457200"/>
          </a:xfrm>
          <a:prstGeom prst="rect">
            <a:avLst/>
          </a:prstGeom>
          <a:noFill/>
        </p:spPr>
        <p:txBody>
          <a:bodyPr wrap="square" anchor="t" lIns="0" rIns="0" tIns="0" bIns="0">
            <a:spAutoFit/>
          </a:bodyPr>
          <a:lstStyle/>
          <a:p>
            <a:pPr algn="l">
              <a:spcAft>
                <a:spcPts val="600"/>
              </a:spcAft>
            </a:pPr>
            <a:r>
              <a:rPr sz="2000" b="1" i="0">
                <a:solidFill>
                  <a:srgbClr val="B23A48"/>
                </a:solidFill>
                <a:latin typeface="Calibri"/>
              </a:rPr>
              <a:t>Common challenges</a:t>
            </a:r>
          </a:p>
        </p:txBody>
      </p:sp>
      <p:sp>
        <p:nvSpPr>
          <p:cNvPr id="7" name="TextBox 6"/>
          <p:cNvSpPr txBox="1"/>
          <p:nvPr/>
        </p:nvSpPr>
        <p:spPr>
          <a:xfrm>
            <a:off x="868680" y="2286000"/>
            <a:ext cx="4572000" cy="3566160"/>
          </a:xfrm>
          <a:prstGeom prst="rect">
            <a:avLst/>
          </a:prstGeom>
          <a:noFill/>
        </p:spPr>
        <p:txBody>
          <a:bodyPr wrap="square" anchor="t" lIns="0" rIns="0" tIns="0" bIns="0">
            <a:spAutoFit/>
          </a:bodyPr>
          <a:lstStyle/>
          <a:p>
            <a:pPr algn="l" marL="256032" indent="-256032">
              <a:spcAft>
                <a:spcPts val="2000"/>
              </a:spcAft>
              <a:buClr>
                <a:srgbClr val="B23A48"/>
              </a:buClr>
              <a:buFont typeface="Arial"/>
              <a:buChar char="•"/>
            </a:pPr>
            <a:r>
              <a:rPr sz="1800" b="0" i="0">
                <a:solidFill>
                  <a:srgbClr val="1F2937"/>
                </a:solidFill>
                <a:latin typeface="Calibri"/>
              </a:rPr>
              <a:t>Obfuscation and packing hide real code</a:t>
            </a:r>
          </a:p>
          <a:p>
            <a:pPr algn="l" marL="256032" indent="-256032">
              <a:spcAft>
                <a:spcPts val="2000"/>
              </a:spcAft>
              <a:buClr>
                <a:srgbClr val="B23A48"/>
              </a:buClr>
              <a:buFont typeface="Arial"/>
              <a:buChar char="•"/>
            </a:pPr>
            <a:r>
              <a:rPr sz="1800" b="0" i="0">
                <a:solidFill>
                  <a:srgbClr val="1F2937"/>
                </a:solidFill>
                <a:latin typeface="Calibri"/>
              </a:rPr>
              <a:t>Anti-debugging tricks detect analysis</a:t>
            </a:r>
          </a:p>
          <a:p>
            <a:pPr algn="l" marL="256032" indent="-256032">
              <a:spcAft>
                <a:spcPts val="2000"/>
              </a:spcAft>
              <a:buClr>
                <a:srgbClr val="B23A48"/>
              </a:buClr>
              <a:buFont typeface="Arial"/>
              <a:buChar char="•"/>
            </a:pPr>
            <a:r>
              <a:rPr sz="1800" b="0" i="0">
                <a:solidFill>
                  <a:srgbClr val="1F2937"/>
                </a:solidFill>
                <a:latin typeface="Calibri"/>
              </a:rPr>
              <a:t>Stripped symbols remove function names</a:t>
            </a:r>
          </a:p>
          <a:p>
            <a:pPr algn="l" marL="256032" indent="-256032">
              <a:spcAft>
                <a:spcPts val="2000"/>
              </a:spcAft>
              <a:buClr>
                <a:srgbClr val="B23A48"/>
              </a:buClr>
              <a:buFont typeface="Arial"/>
              <a:buChar char="•"/>
            </a:pPr>
            <a:r>
              <a:rPr sz="1800" b="0" i="0">
                <a:solidFill>
                  <a:srgbClr val="1F2937"/>
                </a:solidFill>
                <a:latin typeface="Calibri"/>
              </a:rPr>
              <a:t>Large, complex code bases</a:t>
            </a:r>
          </a:p>
          <a:p>
            <a:pPr algn="l" marL="256032" indent="-256032">
              <a:spcAft>
                <a:spcPts val="2000"/>
              </a:spcAft>
              <a:buClr>
                <a:srgbClr val="B23A48"/>
              </a:buClr>
              <a:buFont typeface="Arial"/>
              <a:buChar char="•"/>
            </a:pPr>
            <a:r>
              <a:rPr sz="1800" b="0" i="0">
                <a:solidFill>
                  <a:srgbClr val="1F2937"/>
                </a:solidFill>
                <a:latin typeface="Calibri"/>
              </a:rPr>
              <a:t>Missing or outdated documentation</a:t>
            </a:r>
          </a:p>
        </p:txBody>
      </p:sp>
      <p:sp>
        <p:nvSpPr>
          <p:cNvPr id="8" name="Rounded Rectangle 7"/>
          <p:cNvSpPr/>
          <p:nvPr/>
        </p:nvSpPr>
        <p:spPr>
          <a:xfrm>
            <a:off x="6492240" y="1463040"/>
            <a:ext cx="5120640" cy="452628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1645920"/>
            <a:ext cx="4572000" cy="457200"/>
          </a:xfrm>
          <a:prstGeom prst="rect">
            <a:avLst/>
          </a:prstGeom>
          <a:noFill/>
        </p:spPr>
        <p:txBody>
          <a:bodyPr wrap="square" anchor="t" lIns="0" rIns="0" tIns="0" bIns="0">
            <a:spAutoFit/>
          </a:bodyPr>
          <a:lstStyle/>
          <a:p>
            <a:pPr algn="l">
              <a:spcAft>
                <a:spcPts val="600"/>
              </a:spcAft>
            </a:pPr>
            <a:r>
              <a:rPr sz="2000" b="1" i="0">
                <a:solidFill>
                  <a:srgbClr val="2A9D8F"/>
                </a:solidFill>
                <a:latin typeface="Calibri"/>
              </a:rPr>
              <a:t>Best practices</a:t>
            </a:r>
          </a:p>
        </p:txBody>
      </p:sp>
      <p:sp>
        <p:nvSpPr>
          <p:cNvPr id="10" name="TextBox 9"/>
          <p:cNvSpPr txBox="1"/>
          <p:nvPr/>
        </p:nvSpPr>
        <p:spPr>
          <a:xfrm>
            <a:off x="6812280" y="2286000"/>
            <a:ext cx="4572000" cy="3566160"/>
          </a:xfrm>
          <a:prstGeom prst="rect">
            <a:avLst/>
          </a:prstGeom>
          <a:noFill/>
        </p:spPr>
        <p:txBody>
          <a:bodyPr wrap="square" anchor="t" lIns="0" rIns="0" tIns="0" bIns="0">
            <a:spAutoFit/>
          </a:bodyPr>
          <a:lstStyle/>
          <a:p>
            <a:pPr algn="l" marL="256032" indent="-256032">
              <a:spcAft>
                <a:spcPts val="2000"/>
              </a:spcAft>
              <a:buClr>
                <a:srgbClr val="2A9D8F"/>
              </a:buClr>
              <a:buFont typeface="Arial"/>
              <a:buChar char="•"/>
            </a:pPr>
            <a:r>
              <a:rPr sz="1800" b="0" i="0">
                <a:solidFill>
                  <a:srgbClr val="1F2937"/>
                </a:solidFill>
                <a:latin typeface="Calibri"/>
              </a:rPr>
              <a:t>Work in an isolated, snapshot-able VM</a:t>
            </a:r>
          </a:p>
          <a:p>
            <a:pPr algn="l" marL="256032" indent="-256032">
              <a:spcAft>
                <a:spcPts val="2000"/>
              </a:spcAft>
              <a:buClr>
                <a:srgbClr val="2A9D8F"/>
              </a:buClr>
              <a:buFont typeface="Arial"/>
              <a:buChar char="•"/>
            </a:pPr>
            <a:r>
              <a:rPr sz="1800" b="0" i="0">
                <a:solidFill>
                  <a:srgbClr val="1F2937"/>
                </a:solidFill>
                <a:latin typeface="Calibri"/>
              </a:rPr>
              <a:t>Document findings as you go</a:t>
            </a:r>
          </a:p>
          <a:p>
            <a:pPr algn="l" marL="256032" indent="-256032">
              <a:spcAft>
                <a:spcPts val="2000"/>
              </a:spcAft>
              <a:buClr>
                <a:srgbClr val="2A9D8F"/>
              </a:buClr>
              <a:buFont typeface="Arial"/>
              <a:buChar char="•"/>
            </a:pPr>
            <a:r>
              <a:rPr sz="1800" b="0" i="0">
                <a:solidFill>
                  <a:srgbClr val="1F2937"/>
                </a:solidFill>
                <a:latin typeface="Calibri"/>
              </a:rPr>
              <a:t>Version every note and script in Git</a:t>
            </a:r>
          </a:p>
          <a:p>
            <a:pPr algn="l" marL="256032" indent="-256032">
              <a:spcAft>
                <a:spcPts val="2000"/>
              </a:spcAft>
              <a:buClr>
                <a:srgbClr val="2A9D8F"/>
              </a:buClr>
              <a:buFont typeface="Arial"/>
              <a:buChar char="•"/>
            </a:pPr>
            <a:r>
              <a:rPr sz="1800" b="0" i="0">
                <a:solidFill>
                  <a:srgbClr val="1F2937"/>
                </a:solidFill>
                <a:latin typeface="Calibri"/>
              </a:rPr>
              <a:t>Automate repetitive analysis steps</a:t>
            </a:r>
          </a:p>
          <a:p>
            <a:pPr algn="l" marL="256032" indent="-256032">
              <a:spcAft>
                <a:spcPts val="2000"/>
              </a:spcAft>
              <a:buClr>
                <a:srgbClr val="2A9D8F"/>
              </a:buClr>
              <a:buFont typeface="Arial"/>
              <a:buChar char="•"/>
            </a:pPr>
            <a:r>
              <a:rPr sz="1800" b="0" i="0">
                <a:solidFill>
                  <a:srgbClr val="1F2937"/>
                </a:solidFill>
                <a:latin typeface="Calibri"/>
              </a:rPr>
              <a:t>Have findings peer-reviewed via PRs</a:t>
            </a:r>
          </a:p>
        </p:txBody>
      </p:sp>
      <p:sp>
        <p:nvSpPr>
          <p:cNvPr id="11" name="Right Arrow 10"/>
          <p:cNvSpPr/>
          <p:nvPr/>
        </p:nvSpPr>
        <p:spPr>
          <a:xfrm>
            <a:off x="5760720" y="3383280"/>
            <a:ext cx="640080" cy="685800"/>
          </a:xfrm>
          <a:prstGeom prst="rightArrow">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822960"/>
            <a:ext cx="5943600" cy="731520"/>
          </a:xfrm>
          <a:prstGeom prst="rect">
            <a:avLst/>
          </a:prstGeom>
          <a:noFill/>
        </p:spPr>
        <p:txBody>
          <a:bodyPr wrap="square" anchor="t" lIns="0" rIns="0" tIns="0" bIns="0">
            <a:spAutoFit/>
          </a:bodyPr>
          <a:lstStyle/>
          <a:p>
            <a:pPr algn="l">
              <a:spcAft>
                <a:spcPts val="600"/>
              </a:spcAft>
            </a:pPr>
            <a:r>
              <a:rPr sz="3600" b="1" i="0">
                <a:solidFill>
                  <a:srgbClr val="FFFFFF"/>
                </a:solidFill>
                <a:latin typeface="Cambria"/>
              </a:rPr>
              <a:t>Key Takeaways</a:t>
            </a:r>
          </a:p>
        </p:txBody>
      </p:sp>
      <p:sp>
        <p:nvSpPr>
          <p:cNvPr id="3" name="Oval 2"/>
          <p:cNvSpPr/>
          <p:nvPr/>
        </p:nvSpPr>
        <p:spPr>
          <a:xfrm>
            <a:off x="731520" y="1828800"/>
            <a:ext cx="594360" cy="59436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14213D"/>
                </a:solidFill>
                <a:latin typeface="Cambria"/>
              </a:rPr>
              <a:t>1</a:t>
            </a:r>
          </a:p>
        </p:txBody>
      </p:sp>
      <p:sp>
        <p:nvSpPr>
          <p:cNvPr id="4" name="TextBox 3"/>
          <p:cNvSpPr txBox="1"/>
          <p:nvPr/>
        </p:nvSpPr>
        <p:spPr>
          <a:xfrm>
            <a:off x="1554480" y="1737360"/>
            <a:ext cx="5303520" cy="777240"/>
          </a:xfrm>
          <a:prstGeom prst="rect">
            <a:avLst/>
          </a:prstGeom>
          <a:noFill/>
        </p:spPr>
        <p:txBody>
          <a:bodyPr wrap="square" anchor="ctr" lIns="0" rIns="0" tIns="0" bIns="0">
            <a:spAutoFit/>
          </a:bodyPr>
          <a:lstStyle/>
          <a:p>
            <a:pPr algn="l">
              <a:spcAft>
                <a:spcPts val="600"/>
              </a:spcAft>
            </a:pPr>
            <a:r>
              <a:rPr sz="1700" b="0" i="0">
                <a:solidFill>
                  <a:srgbClr val="FFFFFF"/>
                </a:solidFill>
                <a:latin typeface="Calibri"/>
              </a:rPr>
              <a:t>Reverse engineering recovers design knowledge from finished systems</a:t>
            </a:r>
          </a:p>
        </p:txBody>
      </p:sp>
      <p:sp>
        <p:nvSpPr>
          <p:cNvPr id="5" name="Oval 4"/>
          <p:cNvSpPr/>
          <p:nvPr/>
        </p:nvSpPr>
        <p:spPr>
          <a:xfrm>
            <a:off x="731520" y="2880360"/>
            <a:ext cx="594360" cy="59436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14213D"/>
                </a:solidFill>
                <a:latin typeface="Cambria"/>
              </a:rPr>
              <a:t>2</a:t>
            </a:r>
          </a:p>
        </p:txBody>
      </p:sp>
      <p:sp>
        <p:nvSpPr>
          <p:cNvPr id="6" name="TextBox 5"/>
          <p:cNvSpPr txBox="1"/>
          <p:nvPr/>
        </p:nvSpPr>
        <p:spPr>
          <a:xfrm>
            <a:off x="1554480" y="2788920"/>
            <a:ext cx="5303520" cy="777240"/>
          </a:xfrm>
          <a:prstGeom prst="rect">
            <a:avLst/>
          </a:prstGeom>
          <a:noFill/>
        </p:spPr>
        <p:txBody>
          <a:bodyPr wrap="square" anchor="ctr" lIns="0" rIns="0" tIns="0" bIns="0">
            <a:spAutoFit/>
          </a:bodyPr>
          <a:lstStyle/>
          <a:p>
            <a:pPr algn="l">
              <a:spcAft>
                <a:spcPts val="600"/>
              </a:spcAft>
            </a:pPr>
            <a:r>
              <a:rPr sz="1700" b="0" i="0">
                <a:solidFill>
                  <a:srgbClr val="FFFFFF"/>
                </a:solidFill>
                <a:latin typeface="Calibri"/>
              </a:rPr>
              <a:t>A six-stage, iterative process keeps the work systematic</a:t>
            </a:r>
          </a:p>
        </p:txBody>
      </p:sp>
      <p:sp>
        <p:nvSpPr>
          <p:cNvPr id="7" name="Oval 6"/>
          <p:cNvSpPr/>
          <p:nvPr/>
        </p:nvSpPr>
        <p:spPr>
          <a:xfrm>
            <a:off x="731520" y="3931920"/>
            <a:ext cx="594360" cy="59436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14213D"/>
                </a:solidFill>
                <a:latin typeface="Cambria"/>
              </a:rPr>
              <a:t>3</a:t>
            </a:r>
          </a:p>
        </p:txBody>
      </p:sp>
      <p:sp>
        <p:nvSpPr>
          <p:cNvPr id="8" name="TextBox 7"/>
          <p:cNvSpPr txBox="1"/>
          <p:nvPr/>
        </p:nvSpPr>
        <p:spPr>
          <a:xfrm>
            <a:off x="1554480" y="3840480"/>
            <a:ext cx="5303520" cy="777240"/>
          </a:xfrm>
          <a:prstGeom prst="rect">
            <a:avLst/>
          </a:prstGeom>
          <a:noFill/>
        </p:spPr>
        <p:txBody>
          <a:bodyPr wrap="square" anchor="ctr" lIns="0" rIns="0" tIns="0" bIns="0">
            <a:spAutoFit/>
          </a:bodyPr>
          <a:lstStyle/>
          <a:p>
            <a:pPr algn="l">
              <a:spcAft>
                <a:spcPts val="600"/>
              </a:spcAft>
            </a:pPr>
            <a:r>
              <a:rPr sz="1700" b="0" i="0">
                <a:solidFill>
                  <a:srgbClr val="FFFFFF"/>
                </a:solidFill>
                <a:latin typeface="Calibri"/>
              </a:rPr>
              <a:t>GitHub adds version control, review and automation to analysis</a:t>
            </a:r>
          </a:p>
        </p:txBody>
      </p:sp>
      <p:sp>
        <p:nvSpPr>
          <p:cNvPr id="9" name="Oval 8"/>
          <p:cNvSpPr/>
          <p:nvPr/>
        </p:nvSpPr>
        <p:spPr>
          <a:xfrm>
            <a:off x="731520" y="4983479"/>
            <a:ext cx="594360" cy="594360"/>
          </a:xfrm>
          <a:prstGeom prst="ellipse">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14213D"/>
                </a:solidFill>
                <a:latin typeface="Cambria"/>
              </a:rPr>
              <a:t>4</a:t>
            </a:r>
          </a:p>
        </p:txBody>
      </p:sp>
      <p:sp>
        <p:nvSpPr>
          <p:cNvPr id="10" name="TextBox 9"/>
          <p:cNvSpPr txBox="1"/>
          <p:nvPr/>
        </p:nvSpPr>
        <p:spPr>
          <a:xfrm>
            <a:off x="1554480" y="4892040"/>
            <a:ext cx="5303520" cy="777240"/>
          </a:xfrm>
          <a:prstGeom prst="rect">
            <a:avLst/>
          </a:prstGeom>
          <a:noFill/>
        </p:spPr>
        <p:txBody>
          <a:bodyPr wrap="square" anchor="ctr" lIns="0" rIns="0" tIns="0" bIns="0">
            <a:spAutoFit/>
          </a:bodyPr>
          <a:lstStyle/>
          <a:p>
            <a:pPr algn="l">
              <a:spcAft>
                <a:spcPts val="600"/>
              </a:spcAft>
            </a:pPr>
            <a:r>
              <a:rPr sz="1700" b="0" i="0">
                <a:solidFill>
                  <a:srgbClr val="FFFFFF"/>
                </a:solidFill>
                <a:latin typeface="Calibri"/>
              </a:rPr>
              <a:t>Legal and ethical boundaries must guide every project</a:t>
            </a:r>
          </a:p>
        </p:txBody>
      </p:sp>
      <p:sp>
        <p:nvSpPr>
          <p:cNvPr id="11" name="Oval 10"/>
          <p:cNvSpPr/>
          <p:nvPr/>
        </p:nvSpPr>
        <p:spPr>
          <a:xfrm>
            <a:off x="7589520" y="1463040"/>
            <a:ext cx="4023360" cy="4023360"/>
          </a:xfrm>
          <a:prstGeom prst="ellipse">
            <a:avLst/>
          </a:prstGeom>
          <a:solidFill>
            <a:srgbClr val="22335A"/>
          </a:solidFill>
          <a:ln w="25400">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600"/>
              </a:spcAft>
            </a:pPr>
            <a:r>
              <a:rPr sz="4000" b="1" i="0">
                <a:solidFill>
                  <a:srgbClr val="FFFFFF"/>
                </a:solidFill>
                <a:latin typeface="Cambria"/>
              </a:rPr>
              <a:t>Thank you</a:t>
            </a:r>
          </a:p>
          <a:p>
            <a:pPr algn="ctr">
              <a:spcAft>
                <a:spcPts val="600"/>
              </a:spcAft>
            </a:pPr>
            <a:r>
              <a:rPr sz="2200" b="0" i="0">
                <a:solidFill>
                  <a:srgbClr val="FCA311"/>
                </a:solidFill>
                <a:latin typeface="Calibri"/>
              </a:rPr>
              <a:t>Questions?</a:t>
            </a:r>
          </a:p>
        </p:txBody>
      </p:sp>
      <p:sp>
        <p:nvSpPr>
          <p:cNvPr id="12" name="TextBox 11"/>
          <p:cNvSpPr txBox="1"/>
          <p:nvPr/>
        </p:nvSpPr>
        <p:spPr>
          <a:xfrm>
            <a:off x="7589520" y="5760720"/>
            <a:ext cx="4023360" cy="365760"/>
          </a:xfrm>
          <a:prstGeom prst="rect">
            <a:avLst/>
          </a:prstGeom>
          <a:noFill/>
        </p:spPr>
        <p:txBody>
          <a:bodyPr wrap="square" anchor="t" lIns="0" rIns="0" tIns="0" bIns="0">
            <a:spAutoFit/>
          </a:bodyPr>
          <a:lstStyle/>
          <a:p>
            <a:pPr algn="ctr">
              <a:spcAft>
                <a:spcPts val="600"/>
              </a:spcAft>
            </a:pPr>
            <a:r>
              <a:rPr sz="1400" b="0" i="0">
                <a:solidFill>
                  <a:srgbClr val="C9D3E3"/>
                </a:solidFill>
                <a:latin typeface="Courier New"/>
              </a:rPr>
              <a:t>github.com/Mugilan24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